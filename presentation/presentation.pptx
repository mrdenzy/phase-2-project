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Berthold Block" panose="020B0604020202020204" charset="0"/>
      <p:regular r:id="rId14"/>
    </p:embeddedFont>
    <p:embeddedFont>
      <p:font typeface="TT Fors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43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15CD19-A63F-4A50-8D2D-AE67D0F216BA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B68710-7232-4B51-ACF8-6817589A0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178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68710-7232-4B51-ACF8-6817589A06E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1722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68710-7232-4B51-ACF8-6817589A06E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524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6.sv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10" Type="http://schemas.openxmlformats.org/officeDocument/2006/relationships/image" Target="../media/image17.png"/><Relationship Id="rId4" Type="http://schemas.openxmlformats.org/officeDocument/2006/relationships/image" Target="../media/image13.png"/><Relationship Id="rId9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-477320">
            <a:off x="-795196" y="336509"/>
            <a:ext cx="18977927" cy="8625468"/>
            <a:chOff x="0" y="0"/>
            <a:chExt cx="7620000" cy="3463290"/>
          </a:xfrm>
        </p:grpSpPr>
        <p:sp>
          <p:nvSpPr>
            <p:cNvPr id="3" name="Freeform 3"/>
            <p:cNvSpPr/>
            <p:nvPr/>
          </p:nvSpPr>
          <p:spPr>
            <a:xfrm>
              <a:off x="466090" y="466090"/>
              <a:ext cx="6687820" cy="2531110"/>
            </a:xfrm>
            <a:custGeom>
              <a:avLst/>
              <a:gdLst/>
              <a:ahLst/>
              <a:cxnLst/>
              <a:rect l="l" t="t" r="r" b="b"/>
              <a:pathLst>
                <a:path w="6687820" h="2531110">
                  <a:moveTo>
                    <a:pt x="0" y="0"/>
                  </a:moveTo>
                  <a:lnTo>
                    <a:pt x="0" y="2531110"/>
                  </a:lnTo>
                  <a:lnTo>
                    <a:pt x="6687820" y="2531110"/>
                  </a:lnTo>
                  <a:lnTo>
                    <a:pt x="6687820" y="0"/>
                  </a:lnTo>
                  <a:close/>
                </a:path>
              </a:pathLst>
            </a:custGeom>
            <a:solidFill>
              <a:srgbClr val="FFF7ED"/>
            </a:solidFill>
            <a:ln w="12700">
              <a:solidFill>
                <a:srgbClr val="000000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7620000" cy="3462020"/>
            </a:xfrm>
            <a:custGeom>
              <a:avLst/>
              <a:gdLst/>
              <a:ahLst/>
              <a:cxnLst/>
              <a:rect l="l" t="t" r="r" b="b"/>
              <a:pathLst>
                <a:path w="7620000" h="3462020">
                  <a:moveTo>
                    <a:pt x="388620" y="388620"/>
                  </a:moveTo>
                  <a:lnTo>
                    <a:pt x="388620" y="3074670"/>
                  </a:lnTo>
                  <a:lnTo>
                    <a:pt x="7231380" y="3074670"/>
                  </a:lnTo>
                  <a:lnTo>
                    <a:pt x="7231380" y="388620"/>
                  </a:lnTo>
                  <a:lnTo>
                    <a:pt x="388620" y="388620"/>
                  </a:lnTo>
                  <a:close/>
                  <a:moveTo>
                    <a:pt x="201930" y="0"/>
                  </a:moveTo>
                  <a:lnTo>
                    <a:pt x="490220" y="0"/>
                  </a:lnTo>
                  <a:cubicBezTo>
                    <a:pt x="490220" y="111760"/>
                    <a:pt x="580390" y="201930"/>
                    <a:pt x="692150" y="201930"/>
                  </a:cubicBezTo>
                  <a:cubicBezTo>
                    <a:pt x="803910" y="201930"/>
                    <a:pt x="895350" y="111760"/>
                    <a:pt x="895350" y="0"/>
                  </a:cubicBezTo>
                  <a:lnTo>
                    <a:pt x="1183640" y="0"/>
                  </a:lnTo>
                  <a:cubicBezTo>
                    <a:pt x="1183640" y="111760"/>
                    <a:pt x="1273810" y="201930"/>
                    <a:pt x="1385570" y="201930"/>
                  </a:cubicBezTo>
                  <a:cubicBezTo>
                    <a:pt x="1497330" y="201930"/>
                    <a:pt x="1587500" y="111760"/>
                    <a:pt x="1587500" y="0"/>
                  </a:cubicBezTo>
                  <a:lnTo>
                    <a:pt x="1875790" y="0"/>
                  </a:lnTo>
                  <a:cubicBezTo>
                    <a:pt x="1875790" y="111760"/>
                    <a:pt x="1965960" y="201930"/>
                    <a:pt x="2077720" y="201930"/>
                  </a:cubicBezTo>
                  <a:cubicBezTo>
                    <a:pt x="2189480" y="201930"/>
                    <a:pt x="2279650" y="111760"/>
                    <a:pt x="2279650" y="0"/>
                  </a:cubicBezTo>
                  <a:lnTo>
                    <a:pt x="2567940" y="0"/>
                  </a:lnTo>
                  <a:cubicBezTo>
                    <a:pt x="2567940" y="111760"/>
                    <a:pt x="2658110" y="201930"/>
                    <a:pt x="2769870" y="201930"/>
                  </a:cubicBezTo>
                  <a:cubicBezTo>
                    <a:pt x="2881630" y="201930"/>
                    <a:pt x="2973070" y="111760"/>
                    <a:pt x="2973070" y="0"/>
                  </a:cubicBezTo>
                  <a:lnTo>
                    <a:pt x="3261360" y="0"/>
                  </a:lnTo>
                  <a:cubicBezTo>
                    <a:pt x="3261360" y="111760"/>
                    <a:pt x="3351530" y="201930"/>
                    <a:pt x="3463290" y="201930"/>
                  </a:cubicBezTo>
                  <a:cubicBezTo>
                    <a:pt x="3575050" y="201930"/>
                    <a:pt x="3665220" y="111760"/>
                    <a:pt x="3665220" y="0"/>
                  </a:cubicBezTo>
                  <a:lnTo>
                    <a:pt x="3953510" y="0"/>
                  </a:lnTo>
                  <a:cubicBezTo>
                    <a:pt x="3953510" y="111760"/>
                    <a:pt x="4043680" y="201930"/>
                    <a:pt x="4155440" y="201930"/>
                  </a:cubicBezTo>
                  <a:cubicBezTo>
                    <a:pt x="4267200" y="201930"/>
                    <a:pt x="4357370" y="111760"/>
                    <a:pt x="4357370" y="0"/>
                  </a:cubicBezTo>
                  <a:lnTo>
                    <a:pt x="4645660" y="0"/>
                  </a:lnTo>
                  <a:cubicBezTo>
                    <a:pt x="4645660" y="111760"/>
                    <a:pt x="4735830" y="201930"/>
                    <a:pt x="4847590" y="201930"/>
                  </a:cubicBezTo>
                  <a:cubicBezTo>
                    <a:pt x="4959350" y="201930"/>
                    <a:pt x="5049520" y="111760"/>
                    <a:pt x="5049520" y="0"/>
                  </a:cubicBezTo>
                  <a:lnTo>
                    <a:pt x="5337810" y="0"/>
                  </a:lnTo>
                  <a:cubicBezTo>
                    <a:pt x="5337810" y="111760"/>
                    <a:pt x="5427980" y="201930"/>
                    <a:pt x="5539740" y="201930"/>
                  </a:cubicBezTo>
                  <a:cubicBezTo>
                    <a:pt x="5651500" y="201930"/>
                    <a:pt x="5741670" y="111760"/>
                    <a:pt x="5741670" y="0"/>
                  </a:cubicBezTo>
                  <a:lnTo>
                    <a:pt x="6032500" y="0"/>
                  </a:lnTo>
                  <a:cubicBezTo>
                    <a:pt x="6032500" y="111760"/>
                    <a:pt x="6122670" y="201930"/>
                    <a:pt x="6234430" y="201930"/>
                  </a:cubicBezTo>
                  <a:cubicBezTo>
                    <a:pt x="6346190" y="201930"/>
                    <a:pt x="6436360" y="111760"/>
                    <a:pt x="6436360" y="0"/>
                  </a:cubicBezTo>
                  <a:lnTo>
                    <a:pt x="6724650" y="0"/>
                  </a:lnTo>
                  <a:cubicBezTo>
                    <a:pt x="6724650" y="111760"/>
                    <a:pt x="6814820" y="201930"/>
                    <a:pt x="6926580" y="201930"/>
                  </a:cubicBezTo>
                  <a:cubicBezTo>
                    <a:pt x="7038341" y="201930"/>
                    <a:pt x="7128510" y="111760"/>
                    <a:pt x="7128510" y="0"/>
                  </a:cubicBezTo>
                  <a:lnTo>
                    <a:pt x="7416800" y="0"/>
                  </a:lnTo>
                  <a:cubicBezTo>
                    <a:pt x="7416800" y="111760"/>
                    <a:pt x="7506970" y="201930"/>
                    <a:pt x="7618730" y="201930"/>
                  </a:cubicBezTo>
                  <a:lnTo>
                    <a:pt x="7618730" y="490220"/>
                  </a:lnTo>
                  <a:cubicBezTo>
                    <a:pt x="7506970" y="490220"/>
                    <a:pt x="7416800" y="580390"/>
                    <a:pt x="7416800" y="692150"/>
                  </a:cubicBezTo>
                  <a:cubicBezTo>
                    <a:pt x="7416800" y="803910"/>
                    <a:pt x="7506970" y="894080"/>
                    <a:pt x="7618730" y="894080"/>
                  </a:cubicBezTo>
                  <a:lnTo>
                    <a:pt x="7618730" y="1182370"/>
                  </a:lnTo>
                  <a:cubicBezTo>
                    <a:pt x="7506970" y="1182370"/>
                    <a:pt x="7416800" y="1272540"/>
                    <a:pt x="7416800" y="1384300"/>
                  </a:cubicBezTo>
                  <a:cubicBezTo>
                    <a:pt x="7416800" y="1496060"/>
                    <a:pt x="7508240" y="1587500"/>
                    <a:pt x="7620000" y="1587500"/>
                  </a:cubicBezTo>
                  <a:lnTo>
                    <a:pt x="7620000" y="1875790"/>
                  </a:lnTo>
                  <a:cubicBezTo>
                    <a:pt x="7508240" y="1875790"/>
                    <a:pt x="7418070" y="1965960"/>
                    <a:pt x="7418070" y="2077720"/>
                  </a:cubicBezTo>
                  <a:cubicBezTo>
                    <a:pt x="7418070" y="2189480"/>
                    <a:pt x="7508239" y="2279650"/>
                    <a:pt x="7620000" y="2279650"/>
                  </a:cubicBezTo>
                  <a:lnTo>
                    <a:pt x="7620000" y="2567940"/>
                  </a:lnTo>
                  <a:cubicBezTo>
                    <a:pt x="7508240" y="2567940"/>
                    <a:pt x="7418070" y="2658110"/>
                    <a:pt x="7418070" y="2769870"/>
                  </a:cubicBezTo>
                  <a:cubicBezTo>
                    <a:pt x="7418070" y="2881630"/>
                    <a:pt x="7508240" y="2971800"/>
                    <a:pt x="7620000" y="2971800"/>
                  </a:cubicBezTo>
                  <a:lnTo>
                    <a:pt x="7620000" y="3260090"/>
                  </a:lnTo>
                  <a:cubicBezTo>
                    <a:pt x="7508240" y="3260090"/>
                    <a:pt x="7418070" y="3350260"/>
                    <a:pt x="7418070" y="3462020"/>
                  </a:cubicBezTo>
                  <a:lnTo>
                    <a:pt x="7129780" y="3462020"/>
                  </a:lnTo>
                  <a:cubicBezTo>
                    <a:pt x="7129780" y="3350260"/>
                    <a:pt x="7039610" y="3260090"/>
                    <a:pt x="6927849" y="3260090"/>
                  </a:cubicBezTo>
                  <a:cubicBezTo>
                    <a:pt x="6816089" y="3260090"/>
                    <a:pt x="6725919" y="3350260"/>
                    <a:pt x="6725919" y="3462020"/>
                  </a:cubicBezTo>
                  <a:lnTo>
                    <a:pt x="6437629" y="3462020"/>
                  </a:lnTo>
                  <a:cubicBezTo>
                    <a:pt x="6437629" y="3350260"/>
                    <a:pt x="6347459" y="3260090"/>
                    <a:pt x="6235699" y="3260090"/>
                  </a:cubicBezTo>
                  <a:cubicBezTo>
                    <a:pt x="6123939" y="3260090"/>
                    <a:pt x="6033769" y="3350260"/>
                    <a:pt x="6033769" y="3462020"/>
                  </a:cubicBezTo>
                  <a:lnTo>
                    <a:pt x="5745479" y="3462020"/>
                  </a:lnTo>
                  <a:cubicBezTo>
                    <a:pt x="5745479" y="3350260"/>
                    <a:pt x="5655309" y="3260090"/>
                    <a:pt x="5543549" y="3260090"/>
                  </a:cubicBezTo>
                  <a:cubicBezTo>
                    <a:pt x="5431789" y="3260090"/>
                    <a:pt x="5341619" y="3350260"/>
                    <a:pt x="5341619" y="3462020"/>
                  </a:cubicBezTo>
                  <a:lnTo>
                    <a:pt x="5053329" y="3462020"/>
                  </a:lnTo>
                  <a:cubicBezTo>
                    <a:pt x="5053329" y="3350260"/>
                    <a:pt x="4963159" y="3260090"/>
                    <a:pt x="4851399" y="3260090"/>
                  </a:cubicBezTo>
                  <a:cubicBezTo>
                    <a:pt x="4739639" y="3260090"/>
                    <a:pt x="4649469" y="3350260"/>
                    <a:pt x="4649469" y="3462020"/>
                  </a:cubicBezTo>
                  <a:lnTo>
                    <a:pt x="4361179" y="3462020"/>
                  </a:lnTo>
                  <a:cubicBezTo>
                    <a:pt x="4361179" y="3350260"/>
                    <a:pt x="4271009" y="3260090"/>
                    <a:pt x="4159249" y="3260090"/>
                  </a:cubicBezTo>
                  <a:cubicBezTo>
                    <a:pt x="4047489" y="3260090"/>
                    <a:pt x="3957319" y="3350260"/>
                    <a:pt x="3957319" y="3462020"/>
                  </a:cubicBezTo>
                  <a:lnTo>
                    <a:pt x="3669029" y="3462020"/>
                  </a:lnTo>
                  <a:cubicBezTo>
                    <a:pt x="3669029" y="3350260"/>
                    <a:pt x="3578859" y="3260090"/>
                    <a:pt x="3467099" y="3260090"/>
                  </a:cubicBezTo>
                  <a:cubicBezTo>
                    <a:pt x="3355339" y="3260090"/>
                    <a:pt x="3265169" y="3350260"/>
                    <a:pt x="3265169" y="3462020"/>
                  </a:cubicBezTo>
                  <a:lnTo>
                    <a:pt x="2976879" y="3462020"/>
                  </a:lnTo>
                  <a:cubicBezTo>
                    <a:pt x="2976879" y="3350260"/>
                    <a:pt x="2886709" y="3260090"/>
                    <a:pt x="2774949" y="3260090"/>
                  </a:cubicBezTo>
                  <a:cubicBezTo>
                    <a:pt x="2663189" y="3260090"/>
                    <a:pt x="2573019" y="3350260"/>
                    <a:pt x="2573019" y="3462020"/>
                  </a:cubicBezTo>
                  <a:lnTo>
                    <a:pt x="2284729" y="3462020"/>
                  </a:lnTo>
                  <a:cubicBezTo>
                    <a:pt x="2284729" y="3350260"/>
                    <a:pt x="2194559" y="3260090"/>
                    <a:pt x="2082799" y="3260090"/>
                  </a:cubicBezTo>
                  <a:cubicBezTo>
                    <a:pt x="1971039" y="3260090"/>
                    <a:pt x="1880869" y="3350260"/>
                    <a:pt x="1880869" y="3462020"/>
                  </a:cubicBezTo>
                  <a:lnTo>
                    <a:pt x="1587500" y="3462020"/>
                  </a:lnTo>
                  <a:cubicBezTo>
                    <a:pt x="1587500" y="3350260"/>
                    <a:pt x="1497330" y="3260090"/>
                    <a:pt x="1385570" y="3260090"/>
                  </a:cubicBezTo>
                  <a:cubicBezTo>
                    <a:pt x="1273810" y="3260090"/>
                    <a:pt x="1183640" y="3350260"/>
                    <a:pt x="1183640" y="3462020"/>
                  </a:cubicBezTo>
                  <a:lnTo>
                    <a:pt x="895350" y="3462020"/>
                  </a:lnTo>
                  <a:cubicBezTo>
                    <a:pt x="895350" y="3350260"/>
                    <a:pt x="805180" y="3260090"/>
                    <a:pt x="693420" y="3260090"/>
                  </a:cubicBezTo>
                  <a:cubicBezTo>
                    <a:pt x="581660" y="3260090"/>
                    <a:pt x="491490" y="3350260"/>
                    <a:pt x="491490" y="3462020"/>
                  </a:cubicBezTo>
                  <a:lnTo>
                    <a:pt x="201930" y="3462020"/>
                  </a:lnTo>
                  <a:cubicBezTo>
                    <a:pt x="201930" y="3350260"/>
                    <a:pt x="111760" y="3260090"/>
                    <a:pt x="0" y="3260090"/>
                  </a:cubicBezTo>
                  <a:lnTo>
                    <a:pt x="0" y="2971800"/>
                  </a:lnTo>
                  <a:cubicBezTo>
                    <a:pt x="111760" y="2971800"/>
                    <a:pt x="201930" y="2881630"/>
                    <a:pt x="201930" y="2769870"/>
                  </a:cubicBezTo>
                  <a:cubicBezTo>
                    <a:pt x="201930" y="2658110"/>
                    <a:pt x="111760" y="2567940"/>
                    <a:pt x="0" y="2567940"/>
                  </a:cubicBezTo>
                  <a:lnTo>
                    <a:pt x="0" y="2279650"/>
                  </a:lnTo>
                  <a:cubicBezTo>
                    <a:pt x="111760" y="2279650"/>
                    <a:pt x="201930" y="2189480"/>
                    <a:pt x="201930" y="2077720"/>
                  </a:cubicBezTo>
                  <a:cubicBezTo>
                    <a:pt x="201930" y="1965960"/>
                    <a:pt x="111760" y="1875790"/>
                    <a:pt x="0" y="1875790"/>
                  </a:cubicBezTo>
                  <a:lnTo>
                    <a:pt x="0" y="1587500"/>
                  </a:lnTo>
                  <a:cubicBezTo>
                    <a:pt x="111760" y="1587500"/>
                    <a:pt x="201930" y="1497330"/>
                    <a:pt x="201930" y="1385570"/>
                  </a:cubicBezTo>
                  <a:cubicBezTo>
                    <a:pt x="201930" y="1273810"/>
                    <a:pt x="111760" y="1183640"/>
                    <a:pt x="0" y="1183640"/>
                  </a:cubicBezTo>
                  <a:lnTo>
                    <a:pt x="0" y="895350"/>
                  </a:lnTo>
                  <a:cubicBezTo>
                    <a:pt x="111760" y="895350"/>
                    <a:pt x="201930" y="805180"/>
                    <a:pt x="201930" y="693420"/>
                  </a:cubicBezTo>
                  <a:cubicBezTo>
                    <a:pt x="201930" y="581660"/>
                    <a:pt x="111760" y="490220"/>
                    <a:pt x="0" y="490220"/>
                  </a:cubicBezTo>
                  <a:lnTo>
                    <a:pt x="0" y="201930"/>
                  </a:lnTo>
                  <a:cubicBezTo>
                    <a:pt x="111760" y="201930"/>
                    <a:pt x="201930" y="111760"/>
                    <a:pt x="201930" y="0"/>
                  </a:cubicBezTo>
                  <a:close/>
                </a:path>
              </a:pathLst>
            </a:custGeom>
            <a:solidFill>
              <a:srgbClr val="FFBE24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370840" y="370840"/>
              <a:ext cx="6878320" cy="2721610"/>
            </a:xfrm>
            <a:custGeom>
              <a:avLst/>
              <a:gdLst/>
              <a:ahLst/>
              <a:cxnLst/>
              <a:rect l="l" t="t" r="r" b="b"/>
              <a:pathLst>
                <a:path w="6878320" h="2721610">
                  <a:moveTo>
                    <a:pt x="0" y="0"/>
                  </a:moveTo>
                  <a:lnTo>
                    <a:pt x="0" y="2721610"/>
                  </a:lnTo>
                  <a:lnTo>
                    <a:pt x="6878320" y="2721610"/>
                  </a:lnTo>
                  <a:lnTo>
                    <a:pt x="6878320" y="0"/>
                  </a:lnTo>
                  <a:lnTo>
                    <a:pt x="0" y="0"/>
                  </a:lnTo>
                  <a:close/>
                  <a:moveTo>
                    <a:pt x="113030" y="2608580"/>
                  </a:moveTo>
                  <a:lnTo>
                    <a:pt x="113030" y="113030"/>
                  </a:lnTo>
                  <a:lnTo>
                    <a:pt x="6765290" y="113030"/>
                  </a:lnTo>
                  <a:lnTo>
                    <a:pt x="6765290" y="2608580"/>
                  </a:lnTo>
                  <a:lnTo>
                    <a:pt x="113030" y="2608580"/>
                  </a:lnTo>
                  <a:close/>
                </a:path>
              </a:pathLst>
            </a:custGeom>
            <a:solidFill>
              <a:srgbClr val="D64946"/>
            </a:solidFill>
          </p:spPr>
        </p:sp>
      </p:grpSp>
      <p:sp>
        <p:nvSpPr>
          <p:cNvPr id="6" name="Freeform 6"/>
          <p:cNvSpPr/>
          <p:nvPr/>
        </p:nvSpPr>
        <p:spPr>
          <a:xfrm rot="-638964">
            <a:off x="138013" y="-495875"/>
            <a:ext cx="3242321" cy="3547481"/>
          </a:xfrm>
          <a:custGeom>
            <a:avLst/>
            <a:gdLst/>
            <a:ahLst/>
            <a:cxnLst/>
            <a:rect l="l" t="t" r="r" b="b"/>
            <a:pathLst>
              <a:path w="3242321" h="3547481">
                <a:moveTo>
                  <a:pt x="0" y="0"/>
                </a:moveTo>
                <a:lnTo>
                  <a:pt x="3242321" y="0"/>
                </a:lnTo>
                <a:lnTo>
                  <a:pt x="3242321" y="3547481"/>
                </a:lnTo>
                <a:lnTo>
                  <a:pt x="0" y="3547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130725" y="5559789"/>
            <a:ext cx="4789404" cy="5354009"/>
          </a:xfrm>
          <a:custGeom>
            <a:avLst/>
            <a:gdLst/>
            <a:ahLst/>
            <a:cxnLst/>
            <a:rect l="l" t="t" r="r" b="b"/>
            <a:pathLst>
              <a:path w="4789404" h="5354009">
                <a:moveTo>
                  <a:pt x="0" y="0"/>
                </a:moveTo>
                <a:lnTo>
                  <a:pt x="4789405" y="0"/>
                </a:lnTo>
                <a:lnTo>
                  <a:pt x="4789405" y="5354008"/>
                </a:lnTo>
                <a:lnTo>
                  <a:pt x="0" y="53540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5596555" y="-622841"/>
            <a:ext cx="3325491" cy="3303082"/>
          </a:xfrm>
          <a:custGeom>
            <a:avLst/>
            <a:gdLst/>
            <a:ahLst/>
            <a:cxnLst/>
            <a:rect l="l" t="t" r="r" b="b"/>
            <a:pathLst>
              <a:path w="3325491" h="3303082">
                <a:moveTo>
                  <a:pt x="0" y="0"/>
                </a:moveTo>
                <a:lnTo>
                  <a:pt x="3325490" y="0"/>
                </a:lnTo>
                <a:lnTo>
                  <a:pt x="3325490" y="3303082"/>
                </a:lnTo>
                <a:lnTo>
                  <a:pt x="0" y="33030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72361">
            <a:off x="379007" y="7491784"/>
            <a:ext cx="3860862" cy="2899523"/>
          </a:xfrm>
          <a:custGeom>
            <a:avLst/>
            <a:gdLst/>
            <a:ahLst/>
            <a:cxnLst/>
            <a:rect l="l" t="t" r="r" b="b"/>
            <a:pathLst>
              <a:path w="3860862" h="2899523">
                <a:moveTo>
                  <a:pt x="0" y="0"/>
                </a:moveTo>
                <a:lnTo>
                  <a:pt x="3860862" y="0"/>
                </a:lnTo>
                <a:lnTo>
                  <a:pt x="3860862" y="2899523"/>
                </a:lnTo>
                <a:lnTo>
                  <a:pt x="0" y="28995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10531634" y="6473224"/>
            <a:ext cx="2800799" cy="4559580"/>
          </a:xfrm>
          <a:custGeom>
            <a:avLst/>
            <a:gdLst/>
            <a:ahLst/>
            <a:cxnLst/>
            <a:rect l="l" t="t" r="r" b="b"/>
            <a:pathLst>
              <a:path w="2800799" h="4559580">
                <a:moveTo>
                  <a:pt x="0" y="0"/>
                </a:moveTo>
                <a:lnTo>
                  <a:pt x="2800798" y="0"/>
                </a:lnTo>
                <a:lnTo>
                  <a:pt x="2800798" y="4559580"/>
                </a:lnTo>
                <a:lnTo>
                  <a:pt x="0" y="45595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 rot="-480313">
            <a:off x="1735779" y="3201176"/>
            <a:ext cx="13889623" cy="217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8000">
                <a:solidFill>
                  <a:srgbClr val="713935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DATA-DRIVEN PERSPECTIVES ON A NEW FILM STUDIO</a:t>
            </a:r>
          </a:p>
        </p:txBody>
      </p:sp>
      <p:sp>
        <p:nvSpPr>
          <p:cNvPr id="12" name="TextBox 12"/>
          <p:cNvSpPr txBox="1"/>
          <p:nvPr/>
        </p:nvSpPr>
        <p:spPr>
          <a:xfrm rot="-464530">
            <a:off x="4598629" y="5794270"/>
            <a:ext cx="8180268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40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Presented By: Group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1625" y="1028700"/>
            <a:ext cx="14675222" cy="8229600"/>
            <a:chOff x="0" y="0"/>
            <a:chExt cx="3865079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5079" cy="2167467"/>
            </a:xfrm>
            <a:custGeom>
              <a:avLst/>
              <a:gdLst/>
              <a:ahLst/>
              <a:cxnLst/>
              <a:rect l="l" t="t" r="r" b="b"/>
              <a:pathLst>
                <a:path w="3865079" h="2167467">
                  <a:moveTo>
                    <a:pt x="26905" y="0"/>
                  </a:moveTo>
                  <a:lnTo>
                    <a:pt x="3838174" y="0"/>
                  </a:lnTo>
                  <a:cubicBezTo>
                    <a:pt x="3853033" y="0"/>
                    <a:pt x="3865079" y="12046"/>
                    <a:pt x="3865079" y="26905"/>
                  </a:cubicBezTo>
                  <a:lnTo>
                    <a:pt x="3865079" y="2140562"/>
                  </a:lnTo>
                  <a:cubicBezTo>
                    <a:pt x="3865079" y="2155421"/>
                    <a:pt x="3853033" y="2167467"/>
                    <a:pt x="3838174" y="2167467"/>
                  </a:cubicBezTo>
                  <a:lnTo>
                    <a:pt x="26905" y="2167467"/>
                  </a:lnTo>
                  <a:cubicBezTo>
                    <a:pt x="19769" y="2167467"/>
                    <a:pt x="12926" y="2164632"/>
                    <a:pt x="7880" y="2159586"/>
                  </a:cubicBezTo>
                  <a:cubicBezTo>
                    <a:pt x="2835" y="2154541"/>
                    <a:pt x="0" y="2147697"/>
                    <a:pt x="0" y="2140562"/>
                  </a:cubicBezTo>
                  <a:lnTo>
                    <a:pt x="0" y="26905"/>
                  </a:lnTo>
                  <a:cubicBezTo>
                    <a:pt x="0" y="12046"/>
                    <a:pt x="12046" y="0"/>
                    <a:pt x="26905" y="0"/>
                  </a:cubicBez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65079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3230770">
            <a:off x="13712567" y="331226"/>
            <a:ext cx="7093465" cy="7045666"/>
          </a:xfrm>
          <a:custGeom>
            <a:avLst/>
            <a:gdLst/>
            <a:ahLst/>
            <a:cxnLst/>
            <a:rect l="l" t="t" r="r" b="b"/>
            <a:pathLst>
              <a:path w="7093465" h="7045666">
                <a:moveTo>
                  <a:pt x="0" y="0"/>
                </a:moveTo>
                <a:lnTo>
                  <a:pt x="7093466" y="0"/>
                </a:lnTo>
                <a:lnTo>
                  <a:pt x="7093466" y="7045666"/>
                </a:lnTo>
                <a:lnTo>
                  <a:pt x="0" y="70456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674547">
            <a:off x="216398" y="7926582"/>
            <a:ext cx="2004142" cy="1906655"/>
          </a:xfrm>
          <a:custGeom>
            <a:avLst/>
            <a:gdLst/>
            <a:ahLst/>
            <a:cxnLst/>
            <a:rect l="l" t="t" r="r" b="b"/>
            <a:pathLst>
              <a:path w="2004142" h="1906655">
                <a:moveTo>
                  <a:pt x="0" y="0"/>
                </a:moveTo>
                <a:lnTo>
                  <a:pt x="2004141" y="0"/>
                </a:lnTo>
                <a:lnTo>
                  <a:pt x="2004141" y="1906655"/>
                </a:lnTo>
                <a:lnTo>
                  <a:pt x="0" y="19066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857435" y="8110312"/>
            <a:ext cx="2542026" cy="2324338"/>
          </a:xfrm>
          <a:custGeom>
            <a:avLst/>
            <a:gdLst/>
            <a:ahLst/>
            <a:cxnLst/>
            <a:rect l="l" t="t" r="r" b="b"/>
            <a:pathLst>
              <a:path w="2542026" h="2324338">
                <a:moveTo>
                  <a:pt x="0" y="0"/>
                </a:moveTo>
                <a:lnTo>
                  <a:pt x="2542026" y="0"/>
                </a:lnTo>
                <a:lnTo>
                  <a:pt x="2542026" y="2324338"/>
                </a:lnTo>
                <a:lnTo>
                  <a:pt x="0" y="23243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3063366">
            <a:off x="16174118" y="8791508"/>
            <a:ext cx="1436455" cy="531308"/>
          </a:xfrm>
          <a:custGeom>
            <a:avLst/>
            <a:gdLst/>
            <a:ahLst/>
            <a:cxnLst/>
            <a:rect l="l" t="t" r="r" b="b"/>
            <a:pathLst>
              <a:path w="1436455" h="531308">
                <a:moveTo>
                  <a:pt x="0" y="0"/>
                </a:moveTo>
                <a:lnTo>
                  <a:pt x="1436455" y="0"/>
                </a:lnTo>
                <a:lnTo>
                  <a:pt x="1436455" y="531308"/>
                </a:lnTo>
                <a:lnTo>
                  <a:pt x="0" y="5313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64850" r="-12114" b="-337474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007635" y="1970352"/>
            <a:ext cx="6218625" cy="77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5600">
                <a:solidFill>
                  <a:srgbClr val="713935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BUSINESS CHALLENGE</a:t>
            </a:r>
          </a:p>
        </p:txBody>
      </p:sp>
      <p:sp>
        <p:nvSpPr>
          <p:cNvPr id="10" name="Freeform 10"/>
          <p:cNvSpPr/>
          <p:nvPr/>
        </p:nvSpPr>
        <p:spPr>
          <a:xfrm rot="964674">
            <a:off x="-488908" y="-20085"/>
            <a:ext cx="2533331" cy="2833022"/>
          </a:xfrm>
          <a:custGeom>
            <a:avLst/>
            <a:gdLst/>
            <a:ahLst/>
            <a:cxnLst/>
            <a:rect l="l" t="t" r="r" b="b"/>
            <a:pathLst>
              <a:path w="2533331" h="2833022">
                <a:moveTo>
                  <a:pt x="0" y="0"/>
                </a:moveTo>
                <a:lnTo>
                  <a:pt x="2533330" y="0"/>
                </a:lnTo>
                <a:lnTo>
                  <a:pt x="2533330" y="2833022"/>
                </a:lnTo>
                <a:lnTo>
                  <a:pt x="0" y="28330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1441936">
            <a:off x="9889087" y="383509"/>
            <a:ext cx="1356358" cy="1290381"/>
          </a:xfrm>
          <a:custGeom>
            <a:avLst/>
            <a:gdLst/>
            <a:ahLst/>
            <a:cxnLst/>
            <a:rect l="l" t="t" r="r" b="b"/>
            <a:pathLst>
              <a:path w="1356358" h="1290381">
                <a:moveTo>
                  <a:pt x="0" y="0"/>
                </a:moveTo>
                <a:lnTo>
                  <a:pt x="1356358" y="0"/>
                </a:lnTo>
                <a:lnTo>
                  <a:pt x="1356358" y="1290382"/>
                </a:lnTo>
                <a:lnTo>
                  <a:pt x="0" y="12903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007635" y="3268892"/>
            <a:ext cx="12356604" cy="2577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0" lvl="1" indent="-518160" algn="l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4800">
                <a:solidFill>
                  <a:srgbClr val="713935"/>
                </a:solidFill>
                <a:latin typeface="TT Fors"/>
                <a:ea typeface="TT Fors"/>
                <a:cs typeface="TT Fors"/>
                <a:sym typeface="TT Fors"/>
              </a:rPr>
              <a:t>New studio lacks production experience</a:t>
            </a:r>
          </a:p>
          <a:p>
            <a:pPr marL="1036320" lvl="1" indent="-518160" algn="l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4800">
                <a:solidFill>
                  <a:srgbClr val="713935"/>
                </a:solidFill>
                <a:latin typeface="TT Fors"/>
                <a:ea typeface="TT Fors"/>
                <a:cs typeface="TT Fors"/>
                <a:sym typeface="TT Fors"/>
              </a:rPr>
              <a:t>Uncertainty: which movies will succeed</a:t>
            </a:r>
          </a:p>
          <a:p>
            <a:pPr marL="1036320" lvl="1" indent="-518160" algn="l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4800">
                <a:solidFill>
                  <a:srgbClr val="713935"/>
                </a:solidFill>
                <a:latin typeface="TT Fors"/>
                <a:ea typeface="TT Fors"/>
                <a:cs typeface="TT Fors"/>
                <a:sym typeface="TT Fors"/>
              </a:rPr>
              <a:t>Need data-driven guidance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endParaRPr lang="en-US" sz="4800">
              <a:solidFill>
                <a:srgbClr val="713935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4675222" cy="8229600"/>
            <a:chOff x="0" y="0"/>
            <a:chExt cx="3865079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5079" cy="2167467"/>
            </a:xfrm>
            <a:custGeom>
              <a:avLst/>
              <a:gdLst/>
              <a:ahLst/>
              <a:cxnLst/>
              <a:rect l="l" t="t" r="r" b="b"/>
              <a:pathLst>
                <a:path w="3865079" h="2167467">
                  <a:moveTo>
                    <a:pt x="26905" y="0"/>
                  </a:moveTo>
                  <a:lnTo>
                    <a:pt x="3838174" y="0"/>
                  </a:lnTo>
                  <a:cubicBezTo>
                    <a:pt x="3853033" y="0"/>
                    <a:pt x="3865079" y="12046"/>
                    <a:pt x="3865079" y="26905"/>
                  </a:cubicBezTo>
                  <a:lnTo>
                    <a:pt x="3865079" y="2140562"/>
                  </a:lnTo>
                  <a:cubicBezTo>
                    <a:pt x="3865079" y="2155421"/>
                    <a:pt x="3853033" y="2167467"/>
                    <a:pt x="3838174" y="2167467"/>
                  </a:cubicBezTo>
                  <a:lnTo>
                    <a:pt x="26905" y="2167467"/>
                  </a:lnTo>
                  <a:cubicBezTo>
                    <a:pt x="19769" y="2167467"/>
                    <a:pt x="12926" y="2164632"/>
                    <a:pt x="7880" y="2159586"/>
                  </a:cubicBezTo>
                  <a:cubicBezTo>
                    <a:pt x="2835" y="2154541"/>
                    <a:pt x="0" y="2147697"/>
                    <a:pt x="0" y="2140562"/>
                  </a:cubicBezTo>
                  <a:lnTo>
                    <a:pt x="0" y="26905"/>
                  </a:lnTo>
                  <a:cubicBezTo>
                    <a:pt x="0" y="12046"/>
                    <a:pt x="12046" y="0"/>
                    <a:pt x="26905" y="0"/>
                  </a:cubicBez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65079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3230770">
            <a:off x="13712567" y="331226"/>
            <a:ext cx="7093465" cy="7045666"/>
          </a:xfrm>
          <a:custGeom>
            <a:avLst/>
            <a:gdLst/>
            <a:ahLst/>
            <a:cxnLst/>
            <a:rect l="l" t="t" r="r" b="b"/>
            <a:pathLst>
              <a:path w="7093465" h="7045666">
                <a:moveTo>
                  <a:pt x="0" y="0"/>
                </a:moveTo>
                <a:lnTo>
                  <a:pt x="7093466" y="0"/>
                </a:lnTo>
                <a:lnTo>
                  <a:pt x="7093466" y="7045666"/>
                </a:lnTo>
                <a:lnTo>
                  <a:pt x="0" y="70456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964674">
            <a:off x="-488908" y="-20085"/>
            <a:ext cx="2533331" cy="2833022"/>
          </a:xfrm>
          <a:custGeom>
            <a:avLst/>
            <a:gdLst/>
            <a:ahLst/>
            <a:cxnLst/>
            <a:rect l="l" t="t" r="r" b="b"/>
            <a:pathLst>
              <a:path w="2533331" h="2833022">
                <a:moveTo>
                  <a:pt x="0" y="0"/>
                </a:moveTo>
                <a:lnTo>
                  <a:pt x="2533330" y="0"/>
                </a:lnTo>
                <a:lnTo>
                  <a:pt x="2533330" y="2833022"/>
                </a:lnTo>
                <a:lnTo>
                  <a:pt x="0" y="28330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857435" y="8110312"/>
            <a:ext cx="2542026" cy="2324338"/>
          </a:xfrm>
          <a:custGeom>
            <a:avLst/>
            <a:gdLst/>
            <a:ahLst/>
            <a:cxnLst/>
            <a:rect l="l" t="t" r="r" b="b"/>
            <a:pathLst>
              <a:path w="2542026" h="2324338">
                <a:moveTo>
                  <a:pt x="0" y="0"/>
                </a:moveTo>
                <a:lnTo>
                  <a:pt x="2542026" y="0"/>
                </a:lnTo>
                <a:lnTo>
                  <a:pt x="2542026" y="2324338"/>
                </a:lnTo>
                <a:lnTo>
                  <a:pt x="0" y="23243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3063366">
            <a:off x="16174118" y="8791508"/>
            <a:ext cx="1436455" cy="531308"/>
          </a:xfrm>
          <a:custGeom>
            <a:avLst/>
            <a:gdLst/>
            <a:ahLst/>
            <a:cxnLst/>
            <a:rect l="l" t="t" r="r" b="b"/>
            <a:pathLst>
              <a:path w="1436455" h="531308">
                <a:moveTo>
                  <a:pt x="0" y="0"/>
                </a:moveTo>
                <a:lnTo>
                  <a:pt x="1436455" y="0"/>
                </a:lnTo>
                <a:lnTo>
                  <a:pt x="1436455" y="531308"/>
                </a:lnTo>
                <a:lnTo>
                  <a:pt x="0" y="5313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64850" r="-12114" b="-337474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007635" y="1764663"/>
            <a:ext cx="8559631" cy="77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5600">
                <a:solidFill>
                  <a:srgbClr val="713935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PROJECT GOALS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07635" y="3513235"/>
            <a:ext cx="11555432" cy="3994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Identify success drivers in film performance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Link genre, budget, and ratings to outcomes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Research focus: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 1️⃣ Ratings by genre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 2️⃣ Profitability by genre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 3️⃣ Budget vs revenue </a:t>
            </a:r>
          </a:p>
          <a:p>
            <a:pPr algn="l">
              <a:lnSpc>
                <a:spcPts val="4550"/>
              </a:lnSpc>
            </a:pPr>
            <a:endParaRPr lang="en-US" sz="3500">
              <a:solidFill>
                <a:srgbClr val="4C4C4C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11" name="Freeform 11"/>
          <p:cNvSpPr/>
          <p:nvPr/>
        </p:nvSpPr>
        <p:spPr>
          <a:xfrm rot="-674547">
            <a:off x="216398" y="7926582"/>
            <a:ext cx="2004142" cy="1906655"/>
          </a:xfrm>
          <a:custGeom>
            <a:avLst/>
            <a:gdLst/>
            <a:ahLst/>
            <a:cxnLst/>
            <a:rect l="l" t="t" r="r" b="b"/>
            <a:pathLst>
              <a:path w="2004142" h="1906655">
                <a:moveTo>
                  <a:pt x="0" y="0"/>
                </a:moveTo>
                <a:lnTo>
                  <a:pt x="2004141" y="0"/>
                </a:lnTo>
                <a:lnTo>
                  <a:pt x="2004141" y="1906655"/>
                </a:lnTo>
                <a:lnTo>
                  <a:pt x="0" y="19066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1441936">
            <a:off x="9889087" y="383509"/>
            <a:ext cx="1356358" cy="1290381"/>
          </a:xfrm>
          <a:custGeom>
            <a:avLst/>
            <a:gdLst/>
            <a:ahLst/>
            <a:cxnLst/>
            <a:rect l="l" t="t" r="r" b="b"/>
            <a:pathLst>
              <a:path w="1356358" h="1290381">
                <a:moveTo>
                  <a:pt x="0" y="0"/>
                </a:moveTo>
                <a:lnTo>
                  <a:pt x="1356358" y="0"/>
                </a:lnTo>
                <a:lnTo>
                  <a:pt x="1356358" y="1290382"/>
                </a:lnTo>
                <a:lnTo>
                  <a:pt x="0" y="129038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8225" y="1028700"/>
            <a:ext cx="14675222" cy="8229600"/>
            <a:chOff x="0" y="0"/>
            <a:chExt cx="3865079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5079" cy="2167467"/>
            </a:xfrm>
            <a:custGeom>
              <a:avLst/>
              <a:gdLst/>
              <a:ahLst/>
              <a:cxnLst/>
              <a:rect l="l" t="t" r="r" b="b"/>
              <a:pathLst>
                <a:path w="3865079" h="2167467">
                  <a:moveTo>
                    <a:pt x="26905" y="0"/>
                  </a:moveTo>
                  <a:lnTo>
                    <a:pt x="3838174" y="0"/>
                  </a:lnTo>
                  <a:cubicBezTo>
                    <a:pt x="3853033" y="0"/>
                    <a:pt x="3865079" y="12046"/>
                    <a:pt x="3865079" y="26905"/>
                  </a:cubicBezTo>
                  <a:lnTo>
                    <a:pt x="3865079" y="2140562"/>
                  </a:lnTo>
                  <a:cubicBezTo>
                    <a:pt x="3865079" y="2155421"/>
                    <a:pt x="3853033" y="2167467"/>
                    <a:pt x="3838174" y="2167467"/>
                  </a:cubicBezTo>
                  <a:lnTo>
                    <a:pt x="26905" y="2167467"/>
                  </a:lnTo>
                  <a:cubicBezTo>
                    <a:pt x="19769" y="2167467"/>
                    <a:pt x="12926" y="2164632"/>
                    <a:pt x="7880" y="2159586"/>
                  </a:cubicBezTo>
                  <a:cubicBezTo>
                    <a:pt x="2835" y="2154541"/>
                    <a:pt x="0" y="2147697"/>
                    <a:pt x="0" y="2140562"/>
                  </a:cubicBezTo>
                  <a:lnTo>
                    <a:pt x="0" y="26905"/>
                  </a:lnTo>
                  <a:cubicBezTo>
                    <a:pt x="0" y="12046"/>
                    <a:pt x="12046" y="0"/>
                    <a:pt x="26905" y="0"/>
                  </a:cubicBez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65079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3230770">
            <a:off x="13712567" y="331226"/>
            <a:ext cx="7093465" cy="7045666"/>
          </a:xfrm>
          <a:custGeom>
            <a:avLst/>
            <a:gdLst/>
            <a:ahLst/>
            <a:cxnLst/>
            <a:rect l="l" t="t" r="r" b="b"/>
            <a:pathLst>
              <a:path w="7093465" h="7045666">
                <a:moveTo>
                  <a:pt x="0" y="0"/>
                </a:moveTo>
                <a:lnTo>
                  <a:pt x="7093466" y="0"/>
                </a:lnTo>
                <a:lnTo>
                  <a:pt x="7093466" y="7045666"/>
                </a:lnTo>
                <a:lnTo>
                  <a:pt x="0" y="70456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857435" y="8110312"/>
            <a:ext cx="2542026" cy="2324338"/>
          </a:xfrm>
          <a:custGeom>
            <a:avLst/>
            <a:gdLst/>
            <a:ahLst/>
            <a:cxnLst/>
            <a:rect l="l" t="t" r="r" b="b"/>
            <a:pathLst>
              <a:path w="2542026" h="2324338">
                <a:moveTo>
                  <a:pt x="0" y="0"/>
                </a:moveTo>
                <a:lnTo>
                  <a:pt x="2542026" y="0"/>
                </a:lnTo>
                <a:lnTo>
                  <a:pt x="2542026" y="2324338"/>
                </a:lnTo>
                <a:lnTo>
                  <a:pt x="0" y="23243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3063366">
            <a:off x="16174118" y="8791508"/>
            <a:ext cx="1436455" cy="531308"/>
          </a:xfrm>
          <a:custGeom>
            <a:avLst/>
            <a:gdLst/>
            <a:ahLst/>
            <a:cxnLst/>
            <a:rect l="l" t="t" r="r" b="b"/>
            <a:pathLst>
              <a:path w="1436455" h="531308">
                <a:moveTo>
                  <a:pt x="0" y="0"/>
                </a:moveTo>
                <a:lnTo>
                  <a:pt x="1436455" y="0"/>
                </a:lnTo>
                <a:lnTo>
                  <a:pt x="1436455" y="531308"/>
                </a:lnTo>
                <a:lnTo>
                  <a:pt x="0" y="5313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4850" r="-12114" b="-337474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007635" y="1764663"/>
            <a:ext cx="8559631" cy="77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5600">
                <a:solidFill>
                  <a:srgbClr val="713935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DATA SOURCES &amp; RELEVANCE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07635" y="3514843"/>
            <a:ext cx="11555432" cy="285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Sources: TM Movie Budgets, TMDb Movies, IMDb Ratings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Contain budget, revenue, genre, and rating details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Support profitability and performance insights</a:t>
            </a:r>
          </a:p>
          <a:p>
            <a:pPr algn="l">
              <a:lnSpc>
                <a:spcPts val="4550"/>
              </a:lnSpc>
            </a:pPr>
            <a:endParaRPr lang="en-US" sz="3500">
              <a:solidFill>
                <a:srgbClr val="4C4C4C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10" name="Freeform 10"/>
          <p:cNvSpPr/>
          <p:nvPr/>
        </p:nvSpPr>
        <p:spPr>
          <a:xfrm rot="964674">
            <a:off x="-488908" y="-20085"/>
            <a:ext cx="2533331" cy="2833022"/>
          </a:xfrm>
          <a:custGeom>
            <a:avLst/>
            <a:gdLst/>
            <a:ahLst/>
            <a:cxnLst/>
            <a:rect l="l" t="t" r="r" b="b"/>
            <a:pathLst>
              <a:path w="2533331" h="2833022">
                <a:moveTo>
                  <a:pt x="0" y="0"/>
                </a:moveTo>
                <a:lnTo>
                  <a:pt x="2533330" y="0"/>
                </a:lnTo>
                <a:lnTo>
                  <a:pt x="2533330" y="2833022"/>
                </a:lnTo>
                <a:lnTo>
                  <a:pt x="0" y="28330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674547">
            <a:off x="216398" y="7926582"/>
            <a:ext cx="2004142" cy="1906655"/>
          </a:xfrm>
          <a:custGeom>
            <a:avLst/>
            <a:gdLst/>
            <a:ahLst/>
            <a:cxnLst/>
            <a:rect l="l" t="t" r="r" b="b"/>
            <a:pathLst>
              <a:path w="2004142" h="1906655">
                <a:moveTo>
                  <a:pt x="0" y="0"/>
                </a:moveTo>
                <a:lnTo>
                  <a:pt x="2004141" y="0"/>
                </a:lnTo>
                <a:lnTo>
                  <a:pt x="2004141" y="1906655"/>
                </a:lnTo>
                <a:lnTo>
                  <a:pt x="0" y="19066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1441936">
            <a:off x="9889087" y="383509"/>
            <a:ext cx="1356358" cy="1290381"/>
          </a:xfrm>
          <a:custGeom>
            <a:avLst/>
            <a:gdLst/>
            <a:ahLst/>
            <a:cxnLst/>
            <a:rect l="l" t="t" r="r" b="b"/>
            <a:pathLst>
              <a:path w="1356358" h="1290381">
                <a:moveTo>
                  <a:pt x="0" y="0"/>
                </a:moveTo>
                <a:lnTo>
                  <a:pt x="1356358" y="0"/>
                </a:lnTo>
                <a:lnTo>
                  <a:pt x="1356358" y="1290382"/>
                </a:lnTo>
                <a:lnTo>
                  <a:pt x="0" y="12903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4675222" cy="8229600"/>
            <a:chOff x="0" y="0"/>
            <a:chExt cx="3865079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5079" cy="2167467"/>
            </a:xfrm>
            <a:custGeom>
              <a:avLst/>
              <a:gdLst/>
              <a:ahLst/>
              <a:cxnLst/>
              <a:rect l="l" t="t" r="r" b="b"/>
              <a:pathLst>
                <a:path w="3865079" h="2167467">
                  <a:moveTo>
                    <a:pt x="26905" y="0"/>
                  </a:moveTo>
                  <a:lnTo>
                    <a:pt x="3838174" y="0"/>
                  </a:lnTo>
                  <a:cubicBezTo>
                    <a:pt x="3853033" y="0"/>
                    <a:pt x="3865079" y="12046"/>
                    <a:pt x="3865079" y="26905"/>
                  </a:cubicBezTo>
                  <a:lnTo>
                    <a:pt x="3865079" y="2140562"/>
                  </a:lnTo>
                  <a:cubicBezTo>
                    <a:pt x="3865079" y="2155421"/>
                    <a:pt x="3853033" y="2167467"/>
                    <a:pt x="3838174" y="2167467"/>
                  </a:cubicBezTo>
                  <a:lnTo>
                    <a:pt x="26905" y="2167467"/>
                  </a:lnTo>
                  <a:cubicBezTo>
                    <a:pt x="19769" y="2167467"/>
                    <a:pt x="12926" y="2164632"/>
                    <a:pt x="7880" y="2159586"/>
                  </a:cubicBezTo>
                  <a:cubicBezTo>
                    <a:pt x="2835" y="2154541"/>
                    <a:pt x="0" y="2147697"/>
                    <a:pt x="0" y="2140562"/>
                  </a:cubicBezTo>
                  <a:lnTo>
                    <a:pt x="0" y="26905"/>
                  </a:lnTo>
                  <a:cubicBezTo>
                    <a:pt x="0" y="12046"/>
                    <a:pt x="12046" y="0"/>
                    <a:pt x="26905" y="0"/>
                  </a:cubicBez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65079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3230770">
            <a:off x="13712567" y="331226"/>
            <a:ext cx="7093465" cy="7045666"/>
          </a:xfrm>
          <a:custGeom>
            <a:avLst/>
            <a:gdLst/>
            <a:ahLst/>
            <a:cxnLst/>
            <a:rect l="l" t="t" r="r" b="b"/>
            <a:pathLst>
              <a:path w="7093465" h="7045666">
                <a:moveTo>
                  <a:pt x="0" y="0"/>
                </a:moveTo>
                <a:lnTo>
                  <a:pt x="7093466" y="0"/>
                </a:lnTo>
                <a:lnTo>
                  <a:pt x="7093466" y="7045666"/>
                </a:lnTo>
                <a:lnTo>
                  <a:pt x="0" y="70456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857435" y="8110312"/>
            <a:ext cx="2542026" cy="2324338"/>
          </a:xfrm>
          <a:custGeom>
            <a:avLst/>
            <a:gdLst/>
            <a:ahLst/>
            <a:cxnLst/>
            <a:rect l="l" t="t" r="r" b="b"/>
            <a:pathLst>
              <a:path w="2542026" h="2324338">
                <a:moveTo>
                  <a:pt x="0" y="0"/>
                </a:moveTo>
                <a:lnTo>
                  <a:pt x="2542026" y="0"/>
                </a:lnTo>
                <a:lnTo>
                  <a:pt x="2542026" y="2324338"/>
                </a:lnTo>
                <a:lnTo>
                  <a:pt x="0" y="23243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3063366">
            <a:off x="16174118" y="8791508"/>
            <a:ext cx="1436455" cy="531308"/>
          </a:xfrm>
          <a:custGeom>
            <a:avLst/>
            <a:gdLst/>
            <a:ahLst/>
            <a:cxnLst/>
            <a:rect l="l" t="t" r="r" b="b"/>
            <a:pathLst>
              <a:path w="1436455" h="531308">
                <a:moveTo>
                  <a:pt x="0" y="0"/>
                </a:moveTo>
                <a:lnTo>
                  <a:pt x="1436455" y="0"/>
                </a:lnTo>
                <a:lnTo>
                  <a:pt x="1436455" y="531308"/>
                </a:lnTo>
                <a:lnTo>
                  <a:pt x="0" y="5313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4850" r="-12114" b="-337474"/>
            </a:stretch>
          </a:blipFill>
        </p:spPr>
      </p:sp>
      <p:sp>
        <p:nvSpPr>
          <p:cNvPr id="8" name="Freeform 8"/>
          <p:cNvSpPr/>
          <p:nvPr/>
        </p:nvSpPr>
        <p:spPr>
          <a:xfrm rot="964674">
            <a:off x="-488908" y="-20085"/>
            <a:ext cx="2533331" cy="2833022"/>
          </a:xfrm>
          <a:custGeom>
            <a:avLst/>
            <a:gdLst/>
            <a:ahLst/>
            <a:cxnLst/>
            <a:rect l="l" t="t" r="r" b="b"/>
            <a:pathLst>
              <a:path w="2533331" h="2833022">
                <a:moveTo>
                  <a:pt x="0" y="0"/>
                </a:moveTo>
                <a:lnTo>
                  <a:pt x="2533330" y="0"/>
                </a:lnTo>
                <a:lnTo>
                  <a:pt x="2533330" y="2833022"/>
                </a:lnTo>
                <a:lnTo>
                  <a:pt x="0" y="28330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007635" y="3562149"/>
            <a:ext cx="10842137" cy="342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Renamed columns for consistency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Merged datasets on movie title and ID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Converted currency strings to numeric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Calculated profitability ratio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Mapped genre IDs to readable names</a:t>
            </a:r>
          </a:p>
          <a:p>
            <a:pPr algn="l">
              <a:lnSpc>
                <a:spcPts val="4550"/>
              </a:lnSpc>
            </a:pPr>
            <a:endParaRPr lang="en-US" sz="3500">
              <a:solidFill>
                <a:srgbClr val="4C4C4C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007635" y="1764663"/>
            <a:ext cx="8559631" cy="77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5600">
                <a:solidFill>
                  <a:srgbClr val="713935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DATA PREPARATION</a:t>
            </a:r>
          </a:p>
        </p:txBody>
      </p:sp>
      <p:sp>
        <p:nvSpPr>
          <p:cNvPr id="11" name="Freeform 11"/>
          <p:cNvSpPr/>
          <p:nvPr/>
        </p:nvSpPr>
        <p:spPr>
          <a:xfrm rot="-674547">
            <a:off x="216398" y="7926582"/>
            <a:ext cx="2004142" cy="1906655"/>
          </a:xfrm>
          <a:custGeom>
            <a:avLst/>
            <a:gdLst/>
            <a:ahLst/>
            <a:cxnLst/>
            <a:rect l="l" t="t" r="r" b="b"/>
            <a:pathLst>
              <a:path w="2004142" h="1906655">
                <a:moveTo>
                  <a:pt x="0" y="0"/>
                </a:moveTo>
                <a:lnTo>
                  <a:pt x="2004141" y="0"/>
                </a:lnTo>
                <a:lnTo>
                  <a:pt x="2004141" y="1906655"/>
                </a:lnTo>
                <a:lnTo>
                  <a:pt x="0" y="19066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1441936">
            <a:off x="9889087" y="383509"/>
            <a:ext cx="1356358" cy="1290381"/>
          </a:xfrm>
          <a:custGeom>
            <a:avLst/>
            <a:gdLst/>
            <a:ahLst/>
            <a:cxnLst/>
            <a:rect l="l" t="t" r="r" b="b"/>
            <a:pathLst>
              <a:path w="1356358" h="1290381">
                <a:moveTo>
                  <a:pt x="0" y="0"/>
                </a:moveTo>
                <a:lnTo>
                  <a:pt x="1356358" y="0"/>
                </a:lnTo>
                <a:lnTo>
                  <a:pt x="1356358" y="1290382"/>
                </a:lnTo>
                <a:lnTo>
                  <a:pt x="0" y="12903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4675222" cy="8229600"/>
            <a:chOff x="0" y="0"/>
            <a:chExt cx="3865079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5079" cy="2167467"/>
            </a:xfrm>
            <a:custGeom>
              <a:avLst/>
              <a:gdLst/>
              <a:ahLst/>
              <a:cxnLst/>
              <a:rect l="l" t="t" r="r" b="b"/>
              <a:pathLst>
                <a:path w="3865079" h="2167467">
                  <a:moveTo>
                    <a:pt x="26905" y="0"/>
                  </a:moveTo>
                  <a:lnTo>
                    <a:pt x="3838174" y="0"/>
                  </a:lnTo>
                  <a:cubicBezTo>
                    <a:pt x="3853033" y="0"/>
                    <a:pt x="3865079" y="12046"/>
                    <a:pt x="3865079" y="26905"/>
                  </a:cubicBezTo>
                  <a:lnTo>
                    <a:pt x="3865079" y="2140562"/>
                  </a:lnTo>
                  <a:cubicBezTo>
                    <a:pt x="3865079" y="2155421"/>
                    <a:pt x="3853033" y="2167467"/>
                    <a:pt x="3838174" y="2167467"/>
                  </a:cubicBezTo>
                  <a:lnTo>
                    <a:pt x="26905" y="2167467"/>
                  </a:lnTo>
                  <a:cubicBezTo>
                    <a:pt x="19769" y="2167467"/>
                    <a:pt x="12926" y="2164632"/>
                    <a:pt x="7880" y="2159586"/>
                  </a:cubicBezTo>
                  <a:cubicBezTo>
                    <a:pt x="2835" y="2154541"/>
                    <a:pt x="0" y="2147697"/>
                    <a:pt x="0" y="2140562"/>
                  </a:cubicBezTo>
                  <a:lnTo>
                    <a:pt x="0" y="26905"/>
                  </a:lnTo>
                  <a:cubicBezTo>
                    <a:pt x="0" y="12046"/>
                    <a:pt x="12046" y="0"/>
                    <a:pt x="26905" y="0"/>
                  </a:cubicBez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65079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3230770">
            <a:off x="13712567" y="331226"/>
            <a:ext cx="7093465" cy="7045666"/>
          </a:xfrm>
          <a:custGeom>
            <a:avLst/>
            <a:gdLst/>
            <a:ahLst/>
            <a:cxnLst/>
            <a:rect l="l" t="t" r="r" b="b"/>
            <a:pathLst>
              <a:path w="7093465" h="7045666">
                <a:moveTo>
                  <a:pt x="0" y="0"/>
                </a:moveTo>
                <a:lnTo>
                  <a:pt x="7093466" y="0"/>
                </a:lnTo>
                <a:lnTo>
                  <a:pt x="7093466" y="7045666"/>
                </a:lnTo>
                <a:lnTo>
                  <a:pt x="0" y="70456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857435" y="8110312"/>
            <a:ext cx="2542026" cy="2324338"/>
          </a:xfrm>
          <a:custGeom>
            <a:avLst/>
            <a:gdLst/>
            <a:ahLst/>
            <a:cxnLst/>
            <a:rect l="l" t="t" r="r" b="b"/>
            <a:pathLst>
              <a:path w="2542026" h="2324338">
                <a:moveTo>
                  <a:pt x="0" y="0"/>
                </a:moveTo>
                <a:lnTo>
                  <a:pt x="2542026" y="0"/>
                </a:lnTo>
                <a:lnTo>
                  <a:pt x="2542026" y="2324338"/>
                </a:lnTo>
                <a:lnTo>
                  <a:pt x="0" y="23243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3063366">
            <a:off x="16174118" y="8791508"/>
            <a:ext cx="1436455" cy="531308"/>
          </a:xfrm>
          <a:custGeom>
            <a:avLst/>
            <a:gdLst/>
            <a:ahLst/>
            <a:cxnLst/>
            <a:rect l="l" t="t" r="r" b="b"/>
            <a:pathLst>
              <a:path w="1436455" h="531308">
                <a:moveTo>
                  <a:pt x="0" y="0"/>
                </a:moveTo>
                <a:lnTo>
                  <a:pt x="1436455" y="0"/>
                </a:lnTo>
                <a:lnTo>
                  <a:pt x="1436455" y="531308"/>
                </a:lnTo>
                <a:lnTo>
                  <a:pt x="0" y="5313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4850" r="-12114" b="-337474"/>
            </a:stretch>
          </a:blipFill>
        </p:spPr>
      </p:sp>
      <p:sp>
        <p:nvSpPr>
          <p:cNvPr id="8" name="Freeform 8"/>
          <p:cNvSpPr/>
          <p:nvPr/>
        </p:nvSpPr>
        <p:spPr>
          <a:xfrm rot="964674">
            <a:off x="-488908" y="-20085"/>
            <a:ext cx="2533331" cy="2833022"/>
          </a:xfrm>
          <a:custGeom>
            <a:avLst/>
            <a:gdLst/>
            <a:ahLst/>
            <a:cxnLst/>
            <a:rect l="l" t="t" r="r" b="b"/>
            <a:pathLst>
              <a:path w="2533331" h="2833022">
                <a:moveTo>
                  <a:pt x="0" y="0"/>
                </a:moveTo>
                <a:lnTo>
                  <a:pt x="2533330" y="0"/>
                </a:lnTo>
                <a:lnTo>
                  <a:pt x="2533330" y="2833022"/>
                </a:lnTo>
                <a:lnTo>
                  <a:pt x="0" y="28330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007635" y="2814005"/>
            <a:ext cx="4709582" cy="628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Genres differ in average audience ratings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Top: History, Music, Documentary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Lowest: TV Movies, Western, Horror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Ratings range between 4.9 and 6.9</a:t>
            </a:r>
          </a:p>
          <a:p>
            <a:pPr algn="l">
              <a:lnSpc>
                <a:spcPts val="4550"/>
              </a:lnSpc>
            </a:pPr>
            <a:endParaRPr lang="en-US" sz="3500">
              <a:solidFill>
                <a:srgbClr val="4C4C4C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007635" y="1764663"/>
            <a:ext cx="8559631" cy="77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5600">
                <a:solidFill>
                  <a:srgbClr val="713935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INSIGHT 1: RATINGS BY GENRE</a:t>
            </a:r>
          </a:p>
        </p:txBody>
      </p:sp>
      <p:sp>
        <p:nvSpPr>
          <p:cNvPr id="11" name="Freeform 11"/>
          <p:cNvSpPr/>
          <p:nvPr/>
        </p:nvSpPr>
        <p:spPr>
          <a:xfrm rot="-674547">
            <a:off x="216398" y="7926582"/>
            <a:ext cx="2004142" cy="1906655"/>
          </a:xfrm>
          <a:custGeom>
            <a:avLst/>
            <a:gdLst/>
            <a:ahLst/>
            <a:cxnLst/>
            <a:rect l="l" t="t" r="r" b="b"/>
            <a:pathLst>
              <a:path w="2004142" h="1906655">
                <a:moveTo>
                  <a:pt x="0" y="0"/>
                </a:moveTo>
                <a:lnTo>
                  <a:pt x="2004141" y="0"/>
                </a:lnTo>
                <a:lnTo>
                  <a:pt x="2004141" y="1906655"/>
                </a:lnTo>
                <a:lnTo>
                  <a:pt x="0" y="19066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1441936">
            <a:off x="9889087" y="383509"/>
            <a:ext cx="1356358" cy="1290381"/>
          </a:xfrm>
          <a:custGeom>
            <a:avLst/>
            <a:gdLst/>
            <a:ahLst/>
            <a:cxnLst/>
            <a:rect l="l" t="t" r="r" b="b"/>
            <a:pathLst>
              <a:path w="1356358" h="1290381">
                <a:moveTo>
                  <a:pt x="0" y="0"/>
                </a:moveTo>
                <a:lnTo>
                  <a:pt x="1356358" y="0"/>
                </a:lnTo>
                <a:lnTo>
                  <a:pt x="1356358" y="1290382"/>
                </a:lnTo>
                <a:lnTo>
                  <a:pt x="0" y="12903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717217" y="3075234"/>
            <a:ext cx="8280825" cy="5001985"/>
          </a:xfrm>
          <a:custGeom>
            <a:avLst/>
            <a:gdLst/>
            <a:ahLst/>
            <a:cxnLst/>
            <a:rect l="l" t="t" r="r" b="b"/>
            <a:pathLst>
              <a:path w="8280825" h="5001985">
                <a:moveTo>
                  <a:pt x="0" y="0"/>
                </a:moveTo>
                <a:lnTo>
                  <a:pt x="8280825" y="0"/>
                </a:lnTo>
                <a:lnTo>
                  <a:pt x="8280825" y="5001984"/>
                </a:lnTo>
                <a:lnTo>
                  <a:pt x="0" y="500198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733" b="-733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28700" y="9210675"/>
            <a:ext cx="14675222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Your paragraph text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9210675"/>
            <a:ext cx="14675222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Your paragraph text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4675222" cy="8229600"/>
            <a:chOff x="0" y="0"/>
            <a:chExt cx="3865079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5079" cy="2167467"/>
            </a:xfrm>
            <a:custGeom>
              <a:avLst/>
              <a:gdLst/>
              <a:ahLst/>
              <a:cxnLst/>
              <a:rect l="l" t="t" r="r" b="b"/>
              <a:pathLst>
                <a:path w="3865079" h="2167467">
                  <a:moveTo>
                    <a:pt x="26905" y="0"/>
                  </a:moveTo>
                  <a:lnTo>
                    <a:pt x="3838174" y="0"/>
                  </a:lnTo>
                  <a:cubicBezTo>
                    <a:pt x="3853033" y="0"/>
                    <a:pt x="3865079" y="12046"/>
                    <a:pt x="3865079" y="26905"/>
                  </a:cubicBezTo>
                  <a:lnTo>
                    <a:pt x="3865079" y="2140562"/>
                  </a:lnTo>
                  <a:cubicBezTo>
                    <a:pt x="3865079" y="2155421"/>
                    <a:pt x="3853033" y="2167467"/>
                    <a:pt x="3838174" y="2167467"/>
                  </a:cubicBezTo>
                  <a:lnTo>
                    <a:pt x="26905" y="2167467"/>
                  </a:lnTo>
                  <a:cubicBezTo>
                    <a:pt x="19769" y="2167467"/>
                    <a:pt x="12926" y="2164632"/>
                    <a:pt x="7880" y="2159586"/>
                  </a:cubicBezTo>
                  <a:cubicBezTo>
                    <a:pt x="2835" y="2154541"/>
                    <a:pt x="0" y="2147697"/>
                    <a:pt x="0" y="2140562"/>
                  </a:cubicBezTo>
                  <a:lnTo>
                    <a:pt x="0" y="26905"/>
                  </a:lnTo>
                  <a:cubicBezTo>
                    <a:pt x="0" y="12046"/>
                    <a:pt x="12046" y="0"/>
                    <a:pt x="26905" y="0"/>
                  </a:cubicBez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65079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3230770">
            <a:off x="13712567" y="331226"/>
            <a:ext cx="7093465" cy="7045666"/>
          </a:xfrm>
          <a:custGeom>
            <a:avLst/>
            <a:gdLst/>
            <a:ahLst/>
            <a:cxnLst/>
            <a:rect l="l" t="t" r="r" b="b"/>
            <a:pathLst>
              <a:path w="7093465" h="7045666">
                <a:moveTo>
                  <a:pt x="0" y="0"/>
                </a:moveTo>
                <a:lnTo>
                  <a:pt x="7093466" y="0"/>
                </a:lnTo>
                <a:lnTo>
                  <a:pt x="7093466" y="7045666"/>
                </a:lnTo>
                <a:lnTo>
                  <a:pt x="0" y="70456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857435" y="8110312"/>
            <a:ext cx="2542026" cy="2324338"/>
          </a:xfrm>
          <a:custGeom>
            <a:avLst/>
            <a:gdLst/>
            <a:ahLst/>
            <a:cxnLst/>
            <a:rect l="l" t="t" r="r" b="b"/>
            <a:pathLst>
              <a:path w="2542026" h="2324338">
                <a:moveTo>
                  <a:pt x="0" y="0"/>
                </a:moveTo>
                <a:lnTo>
                  <a:pt x="2542026" y="0"/>
                </a:lnTo>
                <a:lnTo>
                  <a:pt x="2542026" y="2324338"/>
                </a:lnTo>
                <a:lnTo>
                  <a:pt x="0" y="23243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3063366">
            <a:off x="16174118" y="8791508"/>
            <a:ext cx="1436455" cy="531308"/>
          </a:xfrm>
          <a:custGeom>
            <a:avLst/>
            <a:gdLst/>
            <a:ahLst/>
            <a:cxnLst/>
            <a:rect l="l" t="t" r="r" b="b"/>
            <a:pathLst>
              <a:path w="1436455" h="531308">
                <a:moveTo>
                  <a:pt x="0" y="0"/>
                </a:moveTo>
                <a:lnTo>
                  <a:pt x="1436455" y="0"/>
                </a:lnTo>
                <a:lnTo>
                  <a:pt x="1436455" y="531308"/>
                </a:lnTo>
                <a:lnTo>
                  <a:pt x="0" y="5313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4850" r="-12114" b="-337474"/>
            </a:stretch>
          </a:blipFill>
        </p:spPr>
      </p:sp>
      <p:sp>
        <p:nvSpPr>
          <p:cNvPr id="8" name="Freeform 8"/>
          <p:cNvSpPr/>
          <p:nvPr/>
        </p:nvSpPr>
        <p:spPr>
          <a:xfrm rot="964674">
            <a:off x="-488908" y="-20085"/>
            <a:ext cx="2533331" cy="2833022"/>
          </a:xfrm>
          <a:custGeom>
            <a:avLst/>
            <a:gdLst/>
            <a:ahLst/>
            <a:cxnLst/>
            <a:rect l="l" t="t" r="r" b="b"/>
            <a:pathLst>
              <a:path w="2533331" h="2833022">
                <a:moveTo>
                  <a:pt x="0" y="0"/>
                </a:moveTo>
                <a:lnTo>
                  <a:pt x="2533330" y="0"/>
                </a:lnTo>
                <a:lnTo>
                  <a:pt x="2533330" y="2833022"/>
                </a:lnTo>
                <a:lnTo>
                  <a:pt x="0" y="28330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007635" y="1764663"/>
            <a:ext cx="10221606" cy="77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5600">
                <a:solidFill>
                  <a:srgbClr val="713935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INSIGHT 2: PROFITABILITY BY GENRE</a:t>
            </a:r>
          </a:p>
        </p:txBody>
      </p:sp>
      <p:sp>
        <p:nvSpPr>
          <p:cNvPr id="10" name="Freeform 10"/>
          <p:cNvSpPr/>
          <p:nvPr/>
        </p:nvSpPr>
        <p:spPr>
          <a:xfrm rot="-674547">
            <a:off x="216398" y="7926582"/>
            <a:ext cx="2004142" cy="1906655"/>
          </a:xfrm>
          <a:custGeom>
            <a:avLst/>
            <a:gdLst/>
            <a:ahLst/>
            <a:cxnLst/>
            <a:rect l="l" t="t" r="r" b="b"/>
            <a:pathLst>
              <a:path w="2004142" h="1906655">
                <a:moveTo>
                  <a:pt x="0" y="0"/>
                </a:moveTo>
                <a:lnTo>
                  <a:pt x="2004141" y="0"/>
                </a:lnTo>
                <a:lnTo>
                  <a:pt x="2004141" y="1906655"/>
                </a:lnTo>
                <a:lnTo>
                  <a:pt x="0" y="19066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1441936">
            <a:off x="9889087" y="383509"/>
            <a:ext cx="1356358" cy="1290381"/>
          </a:xfrm>
          <a:custGeom>
            <a:avLst/>
            <a:gdLst/>
            <a:ahLst/>
            <a:cxnLst/>
            <a:rect l="l" t="t" r="r" b="b"/>
            <a:pathLst>
              <a:path w="1356358" h="1290381">
                <a:moveTo>
                  <a:pt x="0" y="0"/>
                </a:moveTo>
                <a:lnTo>
                  <a:pt x="1356358" y="0"/>
                </a:lnTo>
                <a:lnTo>
                  <a:pt x="1356358" y="1290382"/>
                </a:lnTo>
                <a:lnTo>
                  <a:pt x="0" y="12903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245945" y="3108327"/>
            <a:ext cx="7358383" cy="5223245"/>
          </a:xfrm>
          <a:custGeom>
            <a:avLst/>
            <a:gdLst/>
            <a:ahLst/>
            <a:cxnLst/>
            <a:rect l="l" t="t" r="r" b="b"/>
            <a:pathLst>
              <a:path w="7358383" h="5223245">
                <a:moveTo>
                  <a:pt x="0" y="0"/>
                </a:moveTo>
                <a:lnTo>
                  <a:pt x="7358383" y="0"/>
                </a:lnTo>
                <a:lnTo>
                  <a:pt x="7358383" y="5223246"/>
                </a:lnTo>
                <a:lnTo>
                  <a:pt x="0" y="522324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9685119" y="3428645"/>
            <a:ext cx="5343605" cy="423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1425" lvl="1" indent="-350712" algn="l">
              <a:lnSpc>
                <a:spcPts val="4223"/>
              </a:lnSpc>
              <a:buFont typeface="Arial"/>
              <a:buChar char="•"/>
            </a:pPr>
            <a:r>
              <a:rPr lang="en-US" sz="3248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Profitability varies widely by genre</a:t>
            </a:r>
          </a:p>
          <a:p>
            <a:pPr marL="701425" lvl="1" indent="-350712" algn="l">
              <a:lnSpc>
                <a:spcPts val="4223"/>
              </a:lnSpc>
              <a:buFont typeface="Arial"/>
              <a:buChar char="•"/>
            </a:pPr>
            <a:r>
              <a:rPr lang="en-US" sz="3248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Top: Horror, Family, Fantasy</a:t>
            </a:r>
          </a:p>
          <a:p>
            <a:pPr marL="701425" lvl="1" indent="-350712" algn="l">
              <a:lnSpc>
                <a:spcPts val="4223"/>
              </a:lnSpc>
              <a:buFont typeface="Arial"/>
              <a:buChar char="•"/>
            </a:pPr>
            <a:r>
              <a:rPr lang="en-US" sz="3248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Lowest: Music, Western</a:t>
            </a:r>
          </a:p>
          <a:p>
            <a:pPr marL="701425" lvl="1" indent="-350712" algn="l">
              <a:lnSpc>
                <a:spcPts val="4223"/>
              </a:lnSpc>
              <a:buFont typeface="Arial"/>
              <a:buChar char="•"/>
            </a:pPr>
            <a:r>
              <a:rPr lang="en-US" sz="3248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Low-budget films yield higher ROI</a:t>
            </a:r>
          </a:p>
          <a:p>
            <a:pPr algn="l">
              <a:lnSpc>
                <a:spcPts val="4223"/>
              </a:lnSpc>
            </a:pPr>
            <a:endParaRPr lang="en-US" sz="3248">
              <a:solidFill>
                <a:srgbClr val="4C4C4C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4675222" cy="8229600"/>
            <a:chOff x="0" y="0"/>
            <a:chExt cx="3865079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5079" cy="2167467"/>
            </a:xfrm>
            <a:custGeom>
              <a:avLst/>
              <a:gdLst/>
              <a:ahLst/>
              <a:cxnLst/>
              <a:rect l="l" t="t" r="r" b="b"/>
              <a:pathLst>
                <a:path w="3865079" h="2167467">
                  <a:moveTo>
                    <a:pt x="26905" y="0"/>
                  </a:moveTo>
                  <a:lnTo>
                    <a:pt x="3838174" y="0"/>
                  </a:lnTo>
                  <a:cubicBezTo>
                    <a:pt x="3853033" y="0"/>
                    <a:pt x="3865079" y="12046"/>
                    <a:pt x="3865079" y="26905"/>
                  </a:cubicBezTo>
                  <a:lnTo>
                    <a:pt x="3865079" y="2140562"/>
                  </a:lnTo>
                  <a:cubicBezTo>
                    <a:pt x="3865079" y="2155421"/>
                    <a:pt x="3853033" y="2167467"/>
                    <a:pt x="3838174" y="2167467"/>
                  </a:cubicBezTo>
                  <a:lnTo>
                    <a:pt x="26905" y="2167467"/>
                  </a:lnTo>
                  <a:cubicBezTo>
                    <a:pt x="19769" y="2167467"/>
                    <a:pt x="12926" y="2164632"/>
                    <a:pt x="7880" y="2159586"/>
                  </a:cubicBezTo>
                  <a:cubicBezTo>
                    <a:pt x="2835" y="2154541"/>
                    <a:pt x="0" y="2147697"/>
                    <a:pt x="0" y="2140562"/>
                  </a:cubicBezTo>
                  <a:lnTo>
                    <a:pt x="0" y="26905"/>
                  </a:lnTo>
                  <a:cubicBezTo>
                    <a:pt x="0" y="12046"/>
                    <a:pt x="12046" y="0"/>
                    <a:pt x="26905" y="0"/>
                  </a:cubicBez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65079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3230770">
            <a:off x="13712567" y="331226"/>
            <a:ext cx="7093465" cy="7045666"/>
          </a:xfrm>
          <a:custGeom>
            <a:avLst/>
            <a:gdLst/>
            <a:ahLst/>
            <a:cxnLst/>
            <a:rect l="l" t="t" r="r" b="b"/>
            <a:pathLst>
              <a:path w="7093465" h="7045666">
                <a:moveTo>
                  <a:pt x="0" y="0"/>
                </a:moveTo>
                <a:lnTo>
                  <a:pt x="7093466" y="0"/>
                </a:lnTo>
                <a:lnTo>
                  <a:pt x="7093466" y="7045666"/>
                </a:lnTo>
                <a:lnTo>
                  <a:pt x="0" y="70456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857435" y="8110312"/>
            <a:ext cx="2542026" cy="2324338"/>
          </a:xfrm>
          <a:custGeom>
            <a:avLst/>
            <a:gdLst/>
            <a:ahLst/>
            <a:cxnLst/>
            <a:rect l="l" t="t" r="r" b="b"/>
            <a:pathLst>
              <a:path w="2542026" h="2324338">
                <a:moveTo>
                  <a:pt x="0" y="0"/>
                </a:moveTo>
                <a:lnTo>
                  <a:pt x="2542026" y="0"/>
                </a:lnTo>
                <a:lnTo>
                  <a:pt x="2542026" y="2324338"/>
                </a:lnTo>
                <a:lnTo>
                  <a:pt x="0" y="23243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3063366">
            <a:off x="16174118" y="8791508"/>
            <a:ext cx="1436455" cy="531308"/>
          </a:xfrm>
          <a:custGeom>
            <a:avLst/>
            <a:gdLst/>
            <a:ahLst/>
            <a:cxnLst/>
            <a:rect l="l" t="t" r="r" b="b"/>
            <a:pathLst>
              <a:path w="1436455" h="531308">
                <a:moveTo>
                  <a:pt x="0" y="0"/>
                </a:moveTo>
                <a:lnTo>
                  <a:pt x="1436455" y="0"/>
                </a:lnTo>
                <a:lnTo>
                  <a:pt x="1436455" y="531308"/>
                </a:lnTo>
                <a:lnTo>
                  <a:pt x="0" y="5313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4850" r="-12114" b="-337474"/>
            </a:stretch>
          </a:blipFill>
        </p:spPr>
      </p:sp>
      <p:sp>
        <p:nvSpPr>
          <p:cNvPr id="8" name="Freeform 8"/>
          <p:cNvSpPr/>
          <p:nvPr/>
        </p:nvSpPr>
        <p:spPr>
          <a:xfrm rot="964674">
            <a:off x="-488908" y="-20085"/>
            <a:ext cx="2533331" cy="2833022"/>
          </a:xfrm>
          <a:custGeom>
            <a:avLst/>
            <a:gdLst/>
            <a:ahLst/>
            <a:cxnLst/>
            <a:rect l="l" t="t" r="r" b="b"/>
            <a:pathLst>
              <a:path w="2533331" h="2833022">
                <a:moveTo>
                  <a:pt x="0" y="0"/>
                </a:moveTo>
                <a:lnTo>
                  <a:pt x="2533330" y="0"/>
                </a:lnTo>
                <a:lnTo>
                  <a:pt x="2533330" y="2833022"/>
                </a:lnTo>
                <a:lnTo>
                  <a:pt x="0" y="28330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007635" y="1764663"/>
            <a:ext cx="11740308" cy="77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5600">
                <a:solidFill>
                  <a:srgbClr val="713935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INSIGHT 3: BUDGET VS BOX OFFICE REVENUE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07635" y="2871275"/>
            <a:ext cx="5736927" cy="5137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Strong positive correlation (r ≈ 0.75)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Higher budgets yield higher revenues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ROI decreases with large budgets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Mid-range budgets offer best balance</a:t>
            </a:r>
          </a:p>
          <a:p>
            <a:pPr algn="l">
              <a:lnSpc>
                <a:spcPts val="4550"/>
              </a:lnSpc>
            </a:pPr>
            <a:endParaRPr lang="en-US" sz="3500">
              <a:solidFill>
                <a:srgbClr val="4C4C4C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11" name="Freeform 11"/>
          <p:cNvSpPr/>
          <p:nvPr/>
        </p:nvSpPr>
        <p:spPr>
          <a:xfrm rot="-674547">
            <a:off x="216398" y="7926582"/>
            <a:ext cx="2004142" cy="1906655"/>
          </a:xfrm>
          <a:custGeom>
            <a:avLst/>
            <a:gdLst/>
            <a:ahLst/>
            <a:cxnLst/>
            <a:rect l="l" t="t" r="r" b="b"/>
            <a:pathLst>
              <a:path w="2004142" h="1906655">
                <a:moveTo>
                  <a:pt x="0" y="0"/>
                </a:moveTo>
                <a:lnTo>
                  <a:pt x="2004141" y="0"/>
                </a:lnTo>
                <a:lnTo>
                  <a:pt x="2004141" y="1906655"/>
                </a:lnTo>
                <a:lnTo>
                  <a:pt x="0" y="19066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1441936">
            <a:off x="9889087" y="383509"/>
            <a:ext cx="1356358" cy="1290381"/>
          </a:xfrm>
          <a:custGeom>
            <a:avLst/>
            <a:gdLst/>
            <a:ahLst/>
            <a:cxnLst/>
            <a:rect l="l" t="t" r="r" b="b"/>
            <a:pathLst>
              <a:path w="1356358" h="1290381">
                <a:moveTo>
                  <a:pt x="0" y="0"/>
                </a:moveTo>
                <a:lnTo>
                  <a:pt x="1356358" y="0"/>
                </a:lnTo>
                <a:lnTo>
                  <a:pt x="1356358" y="1290382"/>
                </a:lnTo>
                <a:lnTo>
                  <a:pt x="0" y="12903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618736" y="2720490"/>
            <a:ext cx="7033539" cy="5476820"/>
          </a:xfrm>
          <a:custGeom>
            <a:avLst/>
            <a:gdLst/>
            <a:ahLst/>
            <a:cxnLst/>
            <a:rect l="l" t="t" r="r" b="b"/>
            <a:pathLst>
              <a:path w="7033539" h="5476820">
                <a:moveTo>
                  <a:pt x="0" y="0"/>
                </a:moveTo>
                <a:lnTo>
                  <a:pt x="7033539" y="0"/>
                </a:lnTo>
                <a:lnTo>
                  <a:pt x="7033539" y="5476820"/>
                </a:lnTo>
                <a:lnTo>
                  <a:pt x="0" y="54768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4675222" cy="8229600"/>
            <a:chOff x="0" y="0"/>
            <a:chExt cx="3865079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5079" cy="2167467"/>
            </a:xfrm>
            <a:custGeom>
              <a:avLst/>
              <a:gdLst/>
              <a:ahLst/>
              <a:cxnLst/>
              <a:rect l="l" t="t" r="r" b="b"/>
              <a:pathLst>
                <a:path w="3865079" h="2167467">
                  <a:moveTo>
                    <a:pt x="26905" y="0"/>
                  </a:moveTo>
                  <a:lnTo>
                    <a:pt x="3838174" y="0"/>
                  </a:lnTo>
                  <a:cubicBezTo>
                    <a:pt x="3853033" y="0"/>
                    <a:pt x="3865079" y="12046"/>
                    <a:pt x="3865079" y="26905"/>
                  </a:cubicBezTo>
                  <a:lnTo>
                    <a:pt x="3865079" y="2140562"/>
                  </a:lnTo>
                  <a:cubicBezTo>
                    <a:pt x="3865079" y="2155421"/>
                    <a:pt x="3853033" y="2167467"/>
                    <a:pt x="3838174" y="2167467"/>
                  </a:cubicBezTo>
                  <a:lnTo>
                    <a:pt x="26905" y="2167467"/>
                  </a:lnTo>
                  <a:cubicBezTo>
                    <a:pt x="19769" y="2167467"/>
                    <a:pt x="12926" y="2164632"/>
                    <a:pt x="7880" y="2159586"/>
                  </a:cubicBezTo>
                  <a:cubicBezTo>
                    <a:pt x="2835" y="2154541"/>
                    <a:pt x="0" y="2147697"/>
                    <a:pt x="0" y="2140562"/>
                  </a:cubicBezTo>
                  <a:lnTo>
                    <a:pt x="0" y="26905"/>
                  </a:lnTo>
                  <a:cubicBezTo>
                    <a:pt x="0" y="12046"/>
                    <a:pt x="12046" y="0"/>
                    <a:pt x="26905" y="0"/>
                  </a:cubicBez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65079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3230770">
            <a:off x="13712567" y="331226"/>
            <a:ext cx="7093465" cy="7045666"/>
          </a:xfrm>
          <a:custGeom>
            <a:avLst/>
            <a:gdLst/>
            <a:ahLst/>
            <a:cxnLst/>
            <a:rect l="l" t="t" r="r" b="b"/>
            <a:pathLst>
              <a:path w="7093465" h="7045666">
                <a:moveTo>
                  <a:pt x="0" y="0"/>
                </a:moveTo>
                <a:lnTo>
                  <a:pt x="7093466" y="0"/>
                </a:lnTo>
                <a:lnTo>
                  <a:pt x="7093466" y="7045666"/>
                </a:lnTo>
                <a:lnTo>
                  <a:pt x="0" y="70456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857435" y="8110312"/>
            <a:ext cx="2542026" cy="2324338"/>
          </a:xfrm>
          <a:custGeom>
            <a:avLst/>
            <a:gdLst/>
            <a:ahLst/>
            <a:cxnLst/>
            <a:rect l="l" t="t" r="r" b="b"/>
            <a:pathLst>
              <a:path w="2542026" h="2324338">
                <a:moveTo>
                  <a:pt x="0" y="0"/>
                </a:moveTo>
                <a:lnTo>
                  <a:pt x="2542026" y="0"/>
                </a:lnTo>
                <a:lnTo>
                  <a:pt x="2542026" y="2324338"/>
                </a:lnTo>
                <a:lnTo>
                  <a:pt x="0" y="23243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3063366">
            <a:off x="16174118" y="8791508"/>
            <a:ext cx="1436455" cy="531308"/>
          </a:xfrm>
          <a:custGeom>
            <a:avLst/>
            <a:gdLst/>
            <a:ahLst/>
            <a:cxnLst/>
            <a:rect l="l" t="t" r="r" b="b"/>
            <a:pathLst>
              <a:path w="1436455" h="531308">
                <a:moveTo>
                  <a:pt x="0" y="0"/>
                </a:moveTo>
                <a:lnTo>
                  <a:pt x="1436455" y="0"/>
                </a:lnTo>
                <a:lnTo>
                  <a:pt x="1436455" y="531308"/>
                </a:lnTo>
                <a:lnTo>
                  <a:pt x="0" y="5313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4850" r="-12114" b="-337474"/>
            </a:stretch>
          </a:blipFill>
        </p:spPr>
      </p:sp>
      <p:sp>
        <p:nvSpPr>
          <p:cNvPr id="8" name="Freeform 8"/>
          <p:cNvSpPr/>
          <p:nvPr/>
        </p:nvSpPr>
        <p:spPr>
          <a:xfrm rot="964674">
            <a:off x="-488908" y="-20085"/>
            <a:ext cx="2533331" cy="2833022"/>
          </a:xfrm>
          <a:custGeom>
            <a:avLst/>
            <a:gdLst/>
            <a:ahLst/>
            <a:cxnLst/>
            <a:rect l="l" t="t" r="r" b="b"/>
            <a:pathLst>
              <a:path w="2533331" h="2833022">
                <a:moveTo>
                  <a:pt x="0" y="0"/>
                </a:moveTo>
                <a:lnTo>
                  <a:pt x="2533330" y="0"/>
                </a:lnTo>
                <a:lnTo>
                  <a:pt x="2533330" y="2833022"/>
                </a:lnTo>
                <a:lnTo>
                  <a:pt x="0" y="28330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007635" y="1764663"/>
            <a:ext cx="11740308" cy="77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5600">
                <a:solidFill>
                  <a:srgbClr val="713935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STRATEGIC RECOMMENDATIONS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07635" y="2871275"/>
            <a:ext cx="9089533" cy="342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Focus on Adventure &amp; Family genres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Leverage low-cost Horror for growth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Control budgets for Action/Sci-Fi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Prioritize mid-budget productions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Base funding on data-driven ROI</a:t>
            </a:r>
          </a:p>
          <a:p>
            <a:pPr algn="l">
              <a:lnSpc>
                <a:spcPts val="4550"/>
              </a:lnSpc>
            </a:pPr>
            <a:endParaRPr lang="en-US" sz="3500">
              <a:solidFill>
                <a:srgbClr val="4C4C4C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11" name="Freeform 11"/>
          <p:cNvSpPr/>
          <p:nvPr/>
        </p:nvSpPr>
        <p:spPr>
          <a:xfrm rot="-674547">
            <a:off x="216398" y="7926582"/>
            <a:ext cx="2004142" cy="1906655"/>
          </a:xfrm>
          <a:custGeom>
            <a:avLst/>
            <a:gdLst/>
            <a:ahLst/>
            <a:cxnLst/>
            <a:rect l="l" t="t" r="r" b="b"/>
            <a:pathLst>
              <a:path w="2004142" h="1906655">
                <a:moveTo>
                  <a:pt x="0" y="0"/>
                </a:moveTo>
                <a:lnTo>
                  <a:pt x="2004141" y="0"/>
                </a:lnTo>
                <a:lnTo>
                  <a:pt x="2004141" y="1906655"/>
                </a:lnTo>
                <a:lnTo>
                  <a:pt x="0" y="19066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1441936">
            <a:off x="9889087" y="383509"/>
            <a:ext cx="1356358" cy="1290381"/>
          </a:xfrm>
          <a:custGeom>
            <a:avLst/>
            <a:gdLst/>
            <a:ahLst/>
            <a:cxnLst/>
            <a:rect l="l" t="t" r="r" b="b"/>
            <a:pathLst>
              <a:path w="1356358" h="1290381">
                <a:moveTo>
                  <a:pt x="0" y="0"/>
                </a:moveTo>
                <a:lnTo>
                  <a:pt x="1356358" y="0"/>
                </a:lnTo>
                <a:lnTo>
                  <a:pt x="1356358" y="1290382"/>
                </a:lnTo>
                <a:lnTo>
                  <a:pt x="0" y="12903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4675222" cy="8229600"/>
            <a:chOff x="0" y="0"/>
            <a:chExt cx="3865079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5079" cy="2167467"/>
            </a:xfrm>
            <a:custGeom>
              <a:avLst/>
              <a:gdLst/>
              <a:ahLst/>
              <a:cxnLst/>
              <a:rect l="l" t="t" r="r" b="b"/>
              <a:pathLst>
                <a:path w="3865079" h="2167467">
                  <a:moveTo>
                    <a:pt x="26905" y="0"/>
                  </a:moveTo>
                  <a:lnTo>
                    <a:pt x="3838174" y="0"/>
                  </a:lnTo>
                  <a:cubicBezTo>
                    <a:pt x="3853033" y="0"/>
                    <a:pt x="3865079" y="12046"/>
                    <a:pt x="3865079" y="26905"/>
                  </a:cubicBezTo>
                  <a:lnTo>
                    <a:pt x="3865079" y="2140562"/>
                  </a:lnTo>
                  <a:cubicBezTo>
                    <a:pt x="3865079" y="2155421"/>
                    <a:pt x="3853033" y="2167467"/>
                    <a:pt x="3838174" y="2167467"/>
                  </a:cubicBezTo>
                  <a:lnTo>
                    <a:pt x="26905" y="2167467"/>
                  </a:lnTo>
                  <a:cubicBezTo>
                    <a:pt x="19769" y="2167467"/>
                    <a:pt x="12926" y="2164632"/>
                    <a:pt x="7880" y="2159586"/>
                  </a:cubicBezTo>
                  <a:cubicBezTo>
                    <a:pt x="2835" y="2154541"/>
                    <a:pt x="0" y="2147697"/>
                    <a:pt x="0" y="2140562"/>
                  </a:cubicBezTo>
                  <a:lnTo>
                    <a:pt x="0" y="26905"/>
                  </a:lnTo>
                  <a:cubicBezTo>
                    <a:pt x="0" y="12046"/>
                    <a:pt x="12046" y="0"/>
                    <a:pt x="26905" y="0"/>
                  </a:cubicBez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65079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3230770">
            <a:off x="13712567" y="331226"/>
            <a:ext cx="7093465" cy="7045666"/>
          </a:xfrm>
          <a:custGeom>
            <a:avLst/>
            <a:gdLst/>
            <a:ahLst/>
            <a:cxnLst/>
            <a:rect l="l" t="t" r="r" b="b"/>
            <a:pathLst>
              <a:path w="7093465" h="7045666">
                <a:moveTo>
                  <a:pt x="0" y="0"/>
                </a:moveTo>
                <a:lnTo>
                  <a:pt x="7093466" y="0"/>
                </a:lnTo>
                <a:lnTo>
                  <a:pt x="7093466" y="7045666"/>
                </a:lnTo>
                <a:lnTo>
                  <a:pt x="0" y="70456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857435" y="8110312"/>
            <a:ext cx="2542026" cy="2324338"/>
          </a:xfrm>
          <a:custGeom>
            <a:avLst/>
            <a:gdLst/>
            <a:ahLst/>
            <a:cxnLst/>
            <a:rect l="l" t="t" r="r" b="b"/>
            <a:pathLst>
              <a:path w="2542026" h="2324338">
                <a:moveTo>
                  <a:pt x="0" y="0"/>
                </a:moveTo>
                <a:lnTo>
                  <a:pt x="2542026" y="0"/>
                </a:lnTo>
                <a:lnTo>
                  <a:pt x="2542026" y="2324338"/>
                </a:lnTo>
                <a:lnTo>
                  <a:pt x="0" y="23243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3063366">
            <a:off x="16174118" y="8791508"/>
            <a:ext cx="1436455" cy="531308"/>
          </a:xfrm>
          <a:custGeom>
            <a:avLst/>
            <a:gdLst/>
            <a:ahLst/>
            <a:cxnLst/>
            <a:rect l="l" t="t" r="r" b="b"/>
            <a:pathLst>
              <a:path w="1436455" h="531308">
                <a:moveTo>
                  <a:pt x="0" y="0"/>
                </a:moveTo>
                <a:lnTo>
                  <a:pt x="1436455" y="0"/>
                </a:lnTo>
                <a:lnTo>
                  <a:pt x="1436455" y="531308"/>
                </a:lnTo>
                <a:lnTo>
                  <a:pt x="0" y="5313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4850" r="-12114" b="-337474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007635" y="1764663"/>
            <a:ext cx="8559631" cy="77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5600">
                <a:solidFill>
                  <a:srgbClr val="713935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CONCLUSION &amp; NEXT STEPS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07635" y="3513235"/>
            <a:ext cx="11555432" cy="342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Genre and budget drive film success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Family, Adventure, Horror = top ROI focus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Big budgets ≠ guaranteed profits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Use data to guide greenlight decisions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Next: include marketing &amp; streaming data</a:t>
            </a:r>
          </a:p>
          <a:p>
            <a:pPr algn="l">
              <a:lnSpc>
                <a:spcPts val="4550"/>
              </a:lnSpc>
            </a:pPr>
            <a:endParaRPr lang="en-US" sz="3500">
              <a:solidFill>
                <a:srgbClr val="4C4C4C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10" name="Freeform 10"/>
          <p:cNvSpPr/>
          <p:nvPr/>
        </p:nvSpPr>
        <p:spPr>
          <a:xfrm rot="964674">
            <a:off x="-488908" y="-20085"/>
            <a:ext cx="2533331" cy="2833022"/>
          </a:xfrm>
          <a:custGeom>
            <a:avLst/>
            <a:gdLst/>
            <a:ahLst/>
            <a:cxnLst/>
            <a:rect l="l" t="t" r="r" b="b"/>
            <a:pathLst>
              <a:path w="2533331" h="2833022">
                <a:moveTo>
                  <a:pt x="0" y="0"/>
                </a:moveTo>
                <a:lnTo>
                  <a:pt x="2533330" y="0"/>
                </a:lnTo>
                <a:lnTo>
                  <a:pt x="2533330" y="2833022"/>
                </a:lnTo>
                <a:lnTo>
                  <a:pt x="0" y="28330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674547">
            <a:off x="216398" y="7926582"/>
            <a:ext cx="2004142" cy="1906655"/>
          </a:xfrm>
          <a:custGeom>
            <a:avLst/>
            <a:gdLst/>
            <a:ahLst/>
            <a:cxnLst/>
            <a:rect l="l" t="t" r="r" b="b"/>
            <a:pathLst>
              <a:path w="2004142" h="1906655">
                <a:moveTo>
                  <a:pt x="0" y="0"/>
                </a:moveTo>
                <a:lnTo>
                  <a:pt x="2004141" y="0"/>
                </a:lnTo>
                <a:lnTo>
                  <a:pt x="2004141" y="1906655"/>
                </a:lnTo>
                <a:lnTo>
                  <a:pt x="0" y="19066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1441936">
            <a:off x="9889087" y="383509"/>
            <a:ext cx="1356358" cy="1290381"/>
          </a:xfrm>
          <a:custGeom>
            <a:avLst/>
            <a:gdLst/>
            <a:ahLst/>
            <a:cxnLst/>
            <a:rect l="l" t="t" r="r" b="b"/>
            <a:pathLst>
              <a:path w="1356358" h="1290381">
                <a:moveTo>
                  <a:pt x="0" y="0"/>
                </a:moveTo>
                <a:lnTo>
                  <a:pt x="1356358" y="0"/>
                </a:lnTo>
                <a:lnTo>
                  <a:pt x="1356358" y="1290382"/>
                </a:lnTo>
                <a:lnTo>
                  <a:pt x="0" y="12903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-477320">
            <a:off x="-795196" y="336509"/>
            <a:ext cx="18977927" cy="8625468"/>
            <a:chOff x="0" y="0"/>
            <a:chExt cx="7620000" cy="3463290"/>
          </a:xfrm>
        </p:grpSpPr>
        <p:sp>
          <p:nvSpPr>
            <p:cNvPr id="3" name="Freeform 3"/>
            <p:cNvSpPr/>
            <p:nvPr/>
          </p:nvSpPr>
          <p:spPr>
            <a:xfrm>
              <a:off x="466090" y="466090"/>
              <a:ext cx="6687820" cy="2531110"/>
            </a:xfrm>
            <a:custGeom>
              <a:avLst/>
              <a:gdLst/>
              <a:ahLst/>
              <a:cxnLst/>
              <a:rect l="l" t="t" r="r" b="b"/>
              <a:pathLst>
                <a:path w="6687820" h="2531110">
                  <a:moveTo>
                    <a:pt x="0" y="0"/>
                  </a:moveTo>
                  <a:lnTo>
                    <a:pt x="0" y="2531110"/>
                  </a:lnTo>
                  <a:lnTo>
                    <a:pt x="6687820" y="2531110"/>
                  </a:lnTo>
                  <a:lnTo>
                    <a:pt x="6687820" y="0"/>
                  </a:lnTo>
                  <a:close/>
                </a:path>
              </a:pathLst>
            </a:custGeom>
            <a:solidFill>
              <a:srgbClr val="FFF7ED"/>
            </a:solidFill>
            <a:ln w="12700">
              <a:solidFill>
                <a:srgbClr val="000000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7620000" cy="3462020"/>
            </a:xfrm>
            <a:custGeom>
              <a:avLst/>
              <a:gdLst/>
              <a:ahLst/>
              <a:cxnLst/>
              <a:rect l="l" t="t" r="r" b="b"/>
              <a:pathLst>
                <a:path w="7620000" h="3462020">
                  <a:moveTo>
                    <a:pt x="388620" y="388620"/>
                  </a:moveTo>
                  <a:lnTo>
                    <a:pt x="388620" y="3074670"/>
                  </a:lnTo>
                  <a:lnTo>
                    <a:pt x="7231380" y="3074670"/>
                  </a:lnTo>
                  <a:lnTo>
                    <a:pt x="7231380" y="388620"/>
                  </a:lnTo>
                  <a:lnTo>
                    <a:pt x="388620" y="388620"/>
                  </a:lnTo>
                  <a:close/>
                  <a:moveTo>
                    <a:pt x="201930" y="0"/>
                  </a:moveTo>
                  <a:lnTo>
                    <a:pt x="490220" y="0"/>
                  </a:lnTo>
                  <a:cubicBezTo>
                    <a:pt x="490220" y="111760"/>
                    <a:pt x="580390" y="201930"/>
                    <a:pt x="692150" y="201930"/>
                  </a:cubicBezTo>
                  <a:cubicBezTo>
                    <a:pt x="803910" y="201930"/>
                    <a:pt x="895350" y="111760"/>
                    <a:pt x="895350" y="0"/>
                  </a:cubicBezTo>
                  <a:lnTo>
                    <a:pt x="1183640" y="0"/>
                  </a:lnTo>
                  <a:cubicBezTo>
                    <a:pt x="1183640" y="111760"/>
                    <a:pt x="1273810" y="201930"/>
                    <a:pt x="1385570" y="201930"/>
                  </a:cubicBezTo>
                  <a:cubicBezTo>
                    <a:pt x="1497330" y="201930"/>
                    <a:pt x="1587500" y="111760"/>
                    <a:pt x="1587500" y="0"/>
                  </a:cubicBezTo>
                  <a:lnTo>
                    <a:pt x="1875790" y="0"/>
                  </a:lnTo>
                  <a:cubicBezTo>
                    <a:pt x="1875790" y="111760"/>
                    <a:pt x="1965960" y="201930"/>
                    <a:pt x="2077720" y="201930"/>
                  </a:cubicBezTo>
                  <a:cubicBezTo>
                    <a:pt x="2189480" y="201930"/>
                    <a:pt x="2279650" y="111760"/>
                    <a:pt x="2279650" y="0"/>
                  </a:cubicBezTo>
                  <a:lnTo>
                    <a:pt x="2567940" y="0"/>
                  </a:lnTo>
                  <a:cubicBezTo>
                    <a:pt x="2567940" y="111760"/>
                    <a:pt x="2658110" y="201930"/>
                    <a:pt x="2769870" y="201930"/>
                  </a:cubicBezTo>
                  <a:cubicBezTo>
                    <a:pt x="2881630" y="201930"/>
                    <a:pt x="2973070" y="111760"/>
                    <a:pt x="2973070" y="0"/>
                  </a:cubicBezTo>
                  <a:lnTo>
                    <a:pt x="3261360" y="0"/>
                  </a:lnTo>
                  <a:cubicBezTo>
                    <a:pt x="3261360" y="111760"/>
                    <a:pt x="3351530" y="201930"/>
                    <a:pt x="3463290" y="201930"/>
                  </a:cubicBezTo>
                  <a:cubicBezTo>
                    <a:pt x="3575050" y="201930"/>
                    <a:pt x="3665220" y="111760"/>
                    <a:pt x="3665220" y="0"/>
                  </a:cubicBezTo>
                  <a:lnTo>
                    <a:pt x="3953510" y="0"/>
                  </a:lnTo>
                  <a:cubicBezTo>
                    <a:pt x="3953510" y="111760"/>
                    <a:pt x="4043680" y="201930"/>
                    <a:pt x="4155440" y="201930"/>
                  </a:cubicBezTo>
                  <a:cubicBezTo>
                    <a:pt x="4267200" y="201930"/>
                    <a:pt x="4357370" y="111760"/>
                    <a:pt x="4357370" y="0"/>
                  </a:cubicBezTo>
                  <a:lnTo>
                    <a:pt x="4645660" y="0"/>
                  </a:lnTo>
                  <a:cubicBezTo>
                    <a:pt x="4645660" y="111760"/>
                    <a:pt x="4735830" y="201930"/>
                    <a:pt x="4847590" y="201930"/>
                  </a:cubicBezTo>
                  <a:cubicBezTo>
                    <a:pt x="4959350" y="201930"/>
                    <a:pt x="5049520" y="111760"/>
                    <a:pt x="5049520" y="0"/>
                  </a:cubicBezTo>
                  <a:lnTo>
                    <a:pt x="5337810" y="0"/>
                  </a:lnTo>
                  <a:cubicBezTo>
                    <a:pt x="5337810" y="111760"/>
                    <a:pt x="5427980" y="201930"/>
                    <a:pt x="5539740" y="201930"/>
                  </a:cubicBezTo>
                  <a:cubicBezTo>
                    <a:pt x="5651500" y="201930"/>
                    <a:pt x="5741670" y="111760"/>
                    <a:pt x="5741670" y="0"/>
                  </a:cubicBezTo>
                  <a:lnTo>
                    <a:pt x="6032500" y="0"/>
                  </a:lnTo>
                  <a:cubicBezTo>
                    <a:pt x="6032500" y="111760"/>
                    <a:pt x="6122670" y="201930"/>
                    <a:pt x="6234430" y="201930"/>
                  </a:cubicBezTo>
                  <a:cubicBezTo>
                    <a:pt x="6346190" y="201930"/>
                    <a:pt x="6436360" y="111760"/>
                    <a:pt x="6436360" y="0"/>
                  </a:cubicBezTo>
                  <a:lnTo>
                    <a:pt x="6724650" y="0"/>
                  </a:lnTo>
                  <a:cubicBezTo>
                    <a:pt x="6724650" y="111760"/>
                    <a:pt x="6814820" y="201930"/>
                    <a:pt x="6926580" y="201930"/>
                  </a:cubicBezTo>
                  <a:cubicBezTo>
                    <a:pt x="7038341" y="201930"/>
                    <a:pt x="7128510" y="111760"/>
                    <a:pt x="7128510" y="0"/>
                  </a:cubicBezTo>
                  <a:lnTo>
                    <a:pt x="7416800" y="0"/>
                  </a:lnTo>
                  <a:cubicBezTo>
                    <a:pt x="7416800" y="111760"/>
                    <a:pt x="7506970" y="201930"/>
                    <a:pt x="7618730" y="201930"/>
                  </a:cubicBezTo>
                  <a:lnTo>
                    <a:pt x="7618730" y="490220"/>
                  </a:lnTo>
                  <a:cubicBezTo>
                    <a:pt x="7506970" y="490220"/>
                    <a:pt x="7416800" y="580390"/>
                    <a:pt x="7416800" y="692150"/>
                  </a:cubicBezTo>
                  <a:cubicBezTo>
                    <a:pt x="7416800" y="803910"/>
                    <a:pt x="7506970" y="894080"/>
                    <a:pt x="7618730" y="894080"/>
                  </a:cubicBezTo>
                  <a:lnTo>
                    <a:pt x="7618730" y="1182370"/>
                  </a:lnTo>
                  <a:cubicBezTo>
                    <a:pt x="7506970" y="1182370"/>
                    <a:pt x="7416800" y="1272540"/>
                    <a:pt x="7416800" y="1384300"/>
                  </a:cubicBezTo>
                  <a:cubicBezTo>
                    <a:pt x="7416800" y="1496060"/>
                    <a:pt x="7508240" y="1587500"/>
                    <a:pt x="7620000" y="1587500"/>
                  </a:cubicBezTo>
                  <a:lnTo>
                    <a:pt x="7620000" y="1875790"/>
                  </a:lnTo>
                  <a:cubicBezTo>
                    <a:pt x="7508240" y="1875790"/>
                    <a:pt x="7418070" y="1965960"/>
                    <a:pt x="7418070" y="2077720"/>
                  </a:cubicBezTo>
                  <a:cubicBezTo>
                    <a:pt x="7418070" y="2189480"/>
                    <a:pt x="7508239" y="2279650"/>
                    <a:pt x="7620000" y="2279650"/>
                  </a:cubicBezTo>
                  <a:lnTo>
                    <a:pt x="7620000" y="2567940"/>
                  </a:lnTo>
                  <a:cubicBezTo>
                    <a:pt x="7508240" y="2567940"/>
                    <a:pt x="7418070" y="2658110"/>
                    <a:pt x="7418070" y="2769870"/>
                  </a:cubicBezTo>
                  <a:cubicBezTo>
                    <a:pt x="7418070" y="2881630"/>
                    <a:pt x="7508240" y="2971800"/>
                    <a:pt x="7620000" y="2971800"/>
                  </a:cubicBezTo>
                  <a:lnTo>
                    <a:pt x="7620000" y="3260090"/>
                  </a:lnTo>
                  <a:cubicBezTo>
                    <a:pt x="7508240" y="3260090"/>
                    <a:pt x="7418070" y="3350260"/>
                    <a:pt x="7418070" y="3462020"/>
                  </a:cubicBezTo>
                  <a:lnTo>
                    <a:pt x="7129780" y="3462020"/>
                  </a:lnTo>
                  <a:cubicBezTo>
                    <a:pt x="7129780" y="3350260"/>
                    <a:pt x="7039610" y="3260090"/>
                    <a:pt x="6927849" y="3260090"/>
                  </a:cubicBezTo>
                  <a:cubicBezTo>
                    <a:pt x="6816089" y="3260090"/>
                    <a:pt x="6725919" y="3350260"/>
                    <a:pt x="6725919" y="3462020"/>
                  </a:cubicBezTo>
                  <a:lnTo>
                    <a:pt x="6437629" y="3462020"/>
                  </a:lnTo>
                  <a:cubicBezTo>
                    <a:pt x="6437629" y="3350260"/>
                    <a:pt x="6347459" y="3260090"/>
                    <a:pt x="6235699" y="3260090"/>
                  </a:cubicBezTo>
                  <a:cubicBezTo>
                    <a:pt x="6123939" y="3260090"/>
                    <a:pt x="6033769" y="3350260"/>
                    <a:pt x="6033769" y="3462020"/>
                  </a:cubicBezTo>
                  <a:lnTo>
                    <a:pt x="5745479" y="3462020"/>
                  </a:lnTo>
                  <a:cubicBezTo>
                    <a:pt x="5745479" y="3350260"/>
                    <a:pt x="5655309" y="3260090"/>
                    <a:pt x="5543549" y="3260090"/>
                  </a:cubicBezTo>
                  <a:cubicBezTo>
                    <a:pt x="5431789" y="3260090"/>
                    <a:pt x="5341619" y="3350260"/>
                    <a:pt x="5341619" y="3462020"/>
                  </a:cubicBezTo>
                  <a:lnTo>
                    <a:pt x="5053329" y="3462020"/>
                  </a:lnTo>
                  <a:cubicBezTo>
                    <a:pt x="5053329" y="3350260"/>
                    <a:pt x="4963159" y="3260090"/>
                    <a:pt x="4851399" y="3260090"/>
                  </a:cubicBezTo>
                  <a:cubicBezTo>
                    <a:pt x="4739639" y="3260090"/>
                    <a:pt x="4649469" y="3350260"/>
                    <a:pt x="4649469" y="3462020"/>
                  </a:cubicBezTo>
                  <a:lnTo>
                    <a:pt x="4361179" y="3462020"/>
                  </a:lnTo>
                  <a:cubicBezTo>
                    <a:pt x="4361179" y="3350260"/>
                    <a:pt x="4271009" y="3260090"/>
                    <a:pt x="4159249" y="3260090"/>
                  </a:cubicBezTo>
                  <a:cubicBezTo>
                    <a:pt x="4047489" y="3260090"/>
                    <a:pt x="3957319" y="3350260"/>
                    <a:pt x="3957319" y="3462020"/>
                  </a:cubicBezTo>
                  <a:lnTo>
                    <a:pt x="3669029" y="3462020"/>
                  </a:lnTo>
                  <a:cubicBezTo>
                    <a:pt x="3669029" y="3350260"/>
                    <a:pt x="3578859" y="3260090"/>
                    <a:pt x="3467099" y="3260090"/>
                  </a:cubicBezTo>
                  <a:cubicBezTo>
                    <a:pt x="3355339" y="3260090"/>
                    <a:pt x="3265169" y="3350260"/>
                    <a:pt x="3265169" y="3462020"/>
                  </a:cubicBezTo>
                  <a:lnTo>
                    <a:pt x="2976879" y="3462020"/>
                  </a:lnTo>
                  <a:cubicBezTo>
                    <a:pt x="2976879" y="3350260"/>
                    <a:pt x="2886709" y="3260090"/>
                    <a:pt x="2774949" y="3260090"/>
                  </a:cubicBezTo>
                  <a:cubicBezTo>
                    <a:pt x="2663189" y="3260090"/>
                    <a:pt x="2573019" y="3350260"/>
                    <a:pt x="2573019" y="3462020"/>
                  </a:cubicBezTo>
                  <a:lnTo>
                    <a:pt x="2284729" y="3462020"/>
                  </a:lnTo>
                  <a:cubicBezTo>
                    <a:pt x="2284729" y="3350260"/>
                    <a:pt x="2194559" y="3260090"/>
                    <a:pt x="2082799" y="3260090"/>
                  </a:cubicBezTo>
                  <a:cubicBezTo>
                    <a:pt x="1971039" y="3260090"/>
                    <a:pt x="1880869" y="3350260"/>
                    <a:pt x="1880869" y="3462020"/>
                  </a:cubicBezTo>
                  <a:lnTo>
                    <a:pt x="1587500" y="3462020"/>
                  </a:lnTo>
                  <a:cubicBezTo>
                    <a:pt x="1587500" y="3350260"/>
                    <a:pt x="1497330" y="3260090"/>
                    <a:pt x="1385570" y="3260090"/>
                  </a:cubicBezTo>
                  <a:cubicBezTo>
                    <a:pt x="1273810" y="3260090"/>
                    <a:pt x="1183640" y="3350260"/>
                    <a:pt x="1183640" y="3462020"/>
                  </a:cubicBezTo>
                  <a:lnTo>
                    <a:pt x="895350" y="3462020"/>
                  </a:lnTo>
                  <a:cubicBezTo>
                    <a:pt x="895350" y="3350260"/>
                    <a:pt x="805180" y="3260090"/>
                    <a:pt x="693420" y="3260090"/>
                  </a:cubicBezTo>
                  <a:cubicBezTo>
                    <a:pt x="581660" y="3260090"/>
                    <a:pt x="491490" y="3350260"/>
                    <a:pt x="491490" y="3462020"/>
                  </a:cubicBezTo>
                  <a:lnTo>
                    <a:pt x="201930" y="3462020"/>
                  </a:lnTo>
                  <a:cubicBezTo>
                    <a:pt x="201930" y="3350260"/>
                    <a:pt x="111760" y="3260090"/>
                    <a:pt x="0" y="3260090"/>
                  </a:cubicBezTo>
                  <a:lnTo>
                    <a:pt x="0" y="2971800"/>
                  </a:lnTo>
                  <a:cubicBezTo>
                    <a:pt x="111760" y="2971800"/>
                    <a:pt x="201930" y="2881630"/>
                    <a:pt x="201930" y="2769870"/>
                  </a:cubicBezTo>
                  <a:cubicBezTo>
                    <a:pt x="201930" y="2658110"/>
                    <a:pt x="111760" y="2567940"/>
                    <a:pt x="0" y="2567940"/>
                  </a:cubicBezTo>
                  <a:lnTo>
                    <a:pt x="0" y="2279650"/>
                  </a:lnTo>
                  <a:cubicBezTo>
                    <a:pt x="111760" y="2279650"/>
                    <a:pt x="201930" y="2189480"/>
                    <a:pt x="201930" y="2077720"/>
                  </a:cubicBezTo>
                  <a:cubicBezTo>
                    <a:pt x="201930" y="1965960"/>
                    <a:pt x="111760" y="1875790"/>
                    <a:pt x="0" y="1875790"/>
                  </a:cubicBezTo>
                  <a:lnTo>
                    <a:pt x="0" y="1587500"/>
                  </a:lnTo>
                  <a:cubicBezTo>
                    <a:pt x="111760" y="1587500"/>
                    <a:pt x="201930" y="1497330"/>
                    <a:pt x="201930" y="1385570"/>
                  </a:cubicBezTo>
                  <a:cubicBezTo>
                    <a:pt x="201930" y="1273810"/>
                    <a:pt x="111760" y="1183640"/>
                    <a:pt x="0" y="1183640"/>
                  </a:cubicBezTo>
                  <a:lnTo>
                    <a:pt x="0" y="895350"/>
                  </a:lnTo>
                  <a:cubicBezTo>
                    <a:pt x="111760" y="895350"/>
                    <a:pt x="201930" y="805180"/>
                    <a:pt x="201930" y="693420"/>
                  </a:cubicBezTo>
                  <a:cubicBezTo>
                    <a:pt x="201930" y="581660"/>
                    <a:pt x="111760" y="490220"/>
                    <a:pt x="0" y="490220"/>
                  </a:cubicBezTo>
                  <a:lnTo>
                    <a:pt x="0" y="201930"/>
                  </a:lnTo>
                  <a:cubicBezTo>
                    <a:pt x="111760" y="201930"/>
                    <a:pt x="201930" y="111760"/>
                    <a:pt x="201930" y="0"/>
                  </a:cubicBezTo>
                  <a:close/>
                </a:path>
              </a:pathLst>
            </a:custGeom>
            <a:solidFill>
              <a:srgbClr val="FFBE24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370840" y="370840"/>
              <a:ext cx="6878320" cy="2721610"/>
            </a:xfrm>
            <a:custGeom>
              <a:avLst/>
              <a:gdLst/>
              <a:ahLst/>
              <a:cxnLst/>
              <a:rect l="l" t="t" r="r" b="b"/>
              <a:pathLst>
                <a:path w="6878320" h="2721610">
                  <a:moveTo>
                    <a:pt x="0" y="0"/>
                  </a:moveTo>
                  <a:lnTo>
                    <a:pt x="0" y="2721610"/>
                  </a:lnTo>
                  <a:lnTo>
                    <a:pt x="6878320" y="2721610"/>
                  </a:lnTo>
                  <a:lnTo>
                    <a:pt x="6878320" y="0"/>
                  </a:lnTo>
                  <a:lnTo>
                    <a:pt x="0" y="0"/>
                  </a:lnTo>
                  <a:close/>
                  <a:moveTo>
                    <a:pt x="113030" y="2608580"/>
                  </a:moveTo>
                  <a:lnTo>
                    <a:pt x="113030" y="113030"/>
                  </a:lnTo>
                  <a:lnTo>
                    <a:pt x="6765290" y="113030"/>
                  </a:lnTo>
                  <a:lnTo>
                    <a:pt x="6765290" y="2608580"/>
                  </a:lnTo>
                  <a:lnTo>
                    <a:pt x="113030" y="2608580"/>
                  </a:lnTo>
                  <a:close/>
                </a:path>
              </a:pathLst>
            </a:custGeom>
            <a:solidFill>
              <a:srgbClr val="D64946"/>
            </a:solidFill>
          </p:spPr>
        </p:sp>
      </p:grpSp>
      <p:sp>
        <p:nvSpPr>
          <p:cNvPr id="6" name="Freeform 6"/>
          <p:cNvSpPr/>
          <p:nvPr/>
        </p:nvSpPr>
        <p:spPr>
          <a:xfrm rot="-638964">
            <a:off x="138013" y="-495875"/>
            <a:ext cx="3242321" cy="3547481"/>
          </a:xfrm>
          <a:custGeom>
            <a:avLst/>
            <a:gdLst/>
            <a:ahLst/>
            <a:cxnLst/>
            <a:rect l="l" t="t" r="r" b="b"/>
            <a:pathLst>
              <a:path w="3242321" h="3547481">
                <a:moveTo>
                  <a:pt x="0" y="0"/>
                </a:moveTo>
                <a:lnTo>
                  <a:pt x="3242321" y="0"/>
                </a:lnTo>
                <a:lnTo>
                  <a:pt x="3242321" y="3547481"/>
                </a:lnTo>
                <a:lnTo>
                  <a:pt x="0" y="3547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130725" y="5559789"/>
            <a:ext cx="4789404" cy="5354009"/>
          </a:xfrm>
          <a:custGeom>
            <a:avLst/>
            <a:gdLst/>
            <a:ahLst/>
            <a:cxnLst/>
            <a:rect l="l" t="t" r="r" b="b"/>
            <a:pathLst>
              <a:path w="4789404" h="5354009">
                <a:moveTo>
                  <a:pt x="0" y="0"/>
                </a:moveTo>
                <a:lnTo>
                  <a:pt x="4789405" y="0"/>
                </a:lnTo>
                <a:lnTo>
                  <a:pt x="4789405" y="5354008"/>
                </a:lnTo>
                <a:lnTo>
                  <a:pt x="0" y="53540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5596555" y="-622841"/>
            <a:ext cx="3325491" cy="3303082"/>
          </a:xfrm>
          <a:custGeom>
            <a:avLst/>
            <a:gdLst/>
            <a:ahLst/>
            <a:cxnLst/>
            <a:rect l="l" t="t" r="r" b="b"/>
            <a:pathLst>
              <a:path w="3325491" h="3303082">
                <a:moveTo>
                  <a:pt x="0" y="0"/>
                </a:moveTo>
                <a:lnTo>
                  <a:pt x="3325490" y="0"/>
                </a:lnTo>
                <a:lnTo>
                  <a:pt x="3325490" y="3303082"/>
                </a:lnTo>
                <a:lnTo>
                  <a:pt x="0" y="33030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72361">
            <a:off x="379007" y="7491784"/>
            <a:ext cx="3860862" cy="2899523"/>
          </a:xfrm>
          <a:custGeom>
            <a:avLst/>
            <a:gdLst/>
            <a:ahLst/>
            <a:cxnLst/>
            <a:rect l="l" t="t" r="r" b="b"/>
            <a:pathLst>
              <a:path w="3860862" h="2899523">
                <a:moveTo>
                  <a:pt x="0" y="0"/>
                </a:moveTo>
                <a:lnTo>
                  <a:pt x="3860862" y="0"/>
                </a:lnTo>
                <a:lnTo>
                  <a:pt x="3860862" y="2899523"/>
                </a:lnTo>
                <a:lnTo>
                  <a:pt x="0" y="28995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10531634" y="6473224"/>
            <a:ext cx="2800799" cy="4559580"/>
          </a:xfrm>
          <a:custGeom>
            <a:avLst/>
            <a:gdLst/>
            <a:ahLst/>
            <a:cxnLst/>
            <a:rect l="l" t="t" r="r" b="b"/>
            <a:pathLst>
              <a:path w="2800799" h="4559580">
                <a:moveTo>
                  <a:pt x="0" y="0"/>
                </a:moveTo>
                <a:lnTo>
                  <a:pt x="2800798" y="0"/>
                </a:lnTo>
                <a:lnTo>
                  <a:pt x="2800798" y="4559580"/>
                </a:lnTo>
                <a:lnTo>
                  <a:pt x="0" y="45595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 rot="-480313">
            <a:off x="1764956" y="3322960"/>
            <a:ext cx="13889623" cy="234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6"/>
              </a:lnSpc>
            </a:pPr>
            <a:r>
              <a:rPr lang="en-US" sz="16996">
                <a:solidFill>
                  <a:srgbClr val="713935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THANK YOU</a:t>
            </a:r>
          </a:p>
        </p:txBody>
      </p:sp>
      <p:sp>
        <p:nvSpPr>
          <p:cNvPr id="12" name="TextBox 12"/>
          <p:cNvSpPr txBox="1"/>
          <p:nvPr/>
        </p:nvSpPr>
        <p:spPr>
          <a:xfrm rot="-464530">
            <a:off x="4598629" y="5794270"/>
            <a:ext cx="8180268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40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289</Words>
  <Application>Microsoft Office PowerPoint</Application>
  <PresentationFormat>Custom</PresentationFormat>
  <Paragraphs>56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Berthold Block</vt:lpstr>
      <vt:lpstr>Arial</vt:lpstr>
      <vt:lpstr>TT Fors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 and Yellow Illustration Group Project Presentation</dc:title>
  <dc:creator>jasho kiplangat</dc:creator>
  <cp:lastModifiedBy>jasho kiplangat</cp:lastModifiedBy>
  <cp:revision>2</cp:revision>
  <dcterms:created xsi:type="dcterms:W3CDTF">2006-08-16T00:00:00Z</dcterms:created>
  <dcterms:modified xsi:type="dcterms:W3CDTF">2025-11-12T10:07:24Z</dcterms:modified>
  <dc:identifier>DAG4eFk_6gI</dc:identifier>
</cp:coreProperties>
</file>